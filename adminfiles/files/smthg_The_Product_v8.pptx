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Autofit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>
            <a:no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mthg.us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www.socialinsider.io/blog/instagram-reach-rate/" TargetMode="External"/><Relationship Id="rId4" Type="http://schemas.openxmlformats.org/officeDocument/2006/relationships/hyperlink" Target="https://www.littledata.io/average/ecommerce-conversion-rate-(all-devices)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hyperlink" Target="https://smthg.us/for-designer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thg_sign.png"/>
          <p:cNvPicPr>
            <a:picLocks noChangeAspect="1"/>
          </p:cNvPicPr>
          <p:nvPr/>
        </p:nvPicPr>
        <p:blipFill>
          <a:blip r:embed="rId2"/>
          <a:srcRect l="6716" r="6716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3657600" cy="431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 spc="-60">
                <a:solidFill>
                  <a:srgbClr val="FFFFFF"/>
                </a:solidFill>
                <a:latin typeface="Helvetica Neue"/>
              </a:rPr>
              <a:t>smthg</a:t>
            </a:r>
            <a:r>
              <a:rPr sz="2000" b="1" spc="-60">
                <a:solidFill>
                  <a:srgbClr val="E8002D"/>
                </a:solidFill>
                <a:latin typeface="Helvetica Neue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841248" cy="45720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6309360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Find the people who’ll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love what you make.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FFFFFF"/>
                </a:solidFill>
                <a:latin typeface="Helvetica Neue"/>
              </a:rPr>
              <a:t>A community built around your label.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5332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  <a:hlinkClick r:id="rId3"/>
              </a:rPr>
              <a:t>@smthg.us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H9aovVAb30oeo0FhB83POM.jpg"/>
          <p:cNvPicPr>
            <a:picLocks noChangeAspect="1"/>
          </p:cNvPicPr>
          <p:nvPr/>
        </p:nvPicPr>
        <p:blipFill>
          <a:blip r:embed="rId2"/>
          <a:srcRect l="32209" r="32209"/>
          <a:stretch>
            <a:fillRect/>
          </a:stretch>
        </p:blipFill>
        <p:spPr>
          <a:xfrm>
            <a:off x="8531352" y="0"/>
            <a:ext cx="366034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0080"/>
            <a:ext cx="7388352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161616"/>
                </a:solidFill>
                <a:latin typeface="Helvetica Neue"/>
              </a:rPr>
              <a:t>smthg</a:t>
            </a:r>
            <a:r>
              <a:rPr sz="4400" b="1" spc="-150">
                <a:solidFill>
                  <a:srgbClr val="E8002D"/>
                </a:solidFill>
                <a:latin typeface="Helvetica Neue"/>
              </a:rPr>
              <a:t>.</a:t>
            </a:r>
            <a:r>
              <a:rPr sz="4400" b="1" spc="-150">
                <a:solidFill>
                  <a:srgbClr val="161616"/>
                </a:solidFill>
                <a:latin typeface="Helvetica Neue"/>
              </a:rPr>
              <a:t> playbook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7388352" cy="10972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73883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E8002D"/>
                </a:solidFill>
                <a:latin typeface="Helvetica Neue"/>
              </a:rPr>
              <a:t>01   </a:t>
            </a:r>
            <a:r>
              <a:rPr sz="2000" b="1" spc="-20">
                <a:solidFill>
                  <a:srgbClr val="161616"/>
                </a:solidFill>
                <a:latin typeface="Helvetica Neue"/>
              </a:rPr>
              <a:t>The smthg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42032"/>
            <a:ext cx="73883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A new sales channel · Try-on · Community · Brands together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926080"/>
            <a:ext cx="7388352" cy="10972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72384"/>
            <a:ext cx="73883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E8002D"/>
                </a:solidFill>
                <a:latin typeface="Helvetica Neue"/>
              </a:rPr>
              <a:t>02   </a:t>
            </a:r>
            <a:r>
              <a:rPr sz="2000" b="1" spc="-20">
                <a:solidFill>
                  <a:srgbClr val="161616"/>
                </a:solidFill>
                <a:latin typeface="Helvetica Neue"/>
              </a:rPr>
              <a:t>The problem smthg solves for brands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56432"/>
            <a:ext cx="73883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Reach · Conversion · Growing alone · Marketplaces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40480"/>
            <a:ext cx="7388352" cy="10972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86784"/>
            <a:ext cx="73883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E8002D"/>
                </a:solidFill>
                <a:latin typeface="Helvetica Neue"/>
              </a:rPr>
              <a:t>03   </a:t>
            </a:r>
            <a:r>
              <a:rPr sz="2000" b="1" spc="-20">
                <a:solidFill>
                  <a:srgbClr val="161616"/>
                </a:solidFill>
                <a:latin typeface="Helvetica Neue"/>
              </a:rPr>
              <a:t>Working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70832"/>
            <a:ext cx="73883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How a drop works · Your designs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754880"/>
            <a:ext cx="7388352" cy="10972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901184"/>
            <a:ext cx="73883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E8002D"/>
                </a:solidFill>
                <a:latin typeface="Helvetica Neue"/>
              </a:rPr>
              <a:t>04   </a:t>
            </a:r>
            <a:r>
              <a:rPr sz="2000" b="1" spc="-20">
                <a:solidFill>
                  <a:srgbClr val="161616"/>
                </a:solidFill>
                <a:latin typeface="Helvetica Neue"/>
              </a:rPr>
              <a:t>The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85232"/>
            <a:ext cx="73883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10 brands · 500 members · Creators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01 / THE SMTHG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One concept. Three layers.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83664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B9B5AE"/>
                </a:solidFill>
                <a:latin typeface="Helvetica Neue"/>
              </a:rPr>
              <a:t>Each layer grows the next.</a:t>
            </a:r>
          </a:p>
        </p:txBody>
      </p:sp>
      <p:pic>
        <p:nvPicPr>
          <p:cNvPr id="5" name="Picture 4" descr="CrtxKDJUxoqy7xXGyCxHZssfywQ.jpg"/>
          <p:cNvPicPr>
            <a:picLocks noChangeAspect="1"/>
          </p:cNvPicPr>
          <p:nvPr/>
        </p:nvPicPr>
        <p:blipFill>
          <a:blip r:embed="rId2"/>
          <a:srcRect t="10704" b="24976"/>
          <a:stretch>
            <a:fillRect/>
          </a:stretch>
        </p:blipFill>
        <p:spPr>
          <a:xfrm>
            <a:off x="822960" y="2514600"/>
            <a:ext cx="3326282" cy="2788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468112"/>
            <a:ext cx="3326282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E8002D"/>
                </a:solidFill>
                <a:latin typeface="Helvetica Neue"/>
              </a:rPr>
              <a:t>01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A new sales channel</a:t>
            </a:r>
          </a:p>
        </p:txBody>
      </p:sp>
      <p:pic>
        <p:nvPicPr>
          <p:cNvPr id="7" name="Picture 6" descr="ImH9aovVAb30oeo0FhB83POM.jpg"/>
          <p:cNvPicPr>
            <a:picLocks noChangeAspect="1"/>
          </p:cNvPicPr>
          <p:nvPr/>
        </p:nvPicPr>
        <p:blipFill>
          <a:blip r:embed="rId3"/>
          <a:srcRect l="10244" r="10244"/>
          <a:stretch>
            <a:fillRect/>
          </a:stretch>
        </p:blipFill>
        <p:spPr>
          <a:xfrm>
            <a:off x="4432706" y="2514600"/>
            <a:ext cx="3326282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32706" y="5468112"/>
            <a:ext cx="3326282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E8002D"/>
                </a:solidFill>
                <a:latin typeface="Helvetica Neue"/>
              </a:rPr>
              <a:t>02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A community driven by creators and members</a:t>
            </a:r>
          </a:p>
        </p:txBody>
      </p:sp>
      <p:pic>
        <p:nvPicPr>
          <p:cNvPr id="9" name="Picture 8" descr="smthg_poster.png"/>
          <p:cNvPicPr>
            <a:picLocks noChangeAspect="1"/>
          </p:cNvPicPr>
          <p:nvPr/>
        </p:nvPicPr>
        <p:blipFill>
          <a:blip r:embed="rId4"/>
          <a:srcRect t="9966" b="23254"/>
          <a:stretch>
            <a:fillRect/>
          </a:stretch>
        </p:blipFill>
        <p:spPr>
          <a:xfrm>
            <a:off x="8042452" y="2514600"/>
            <a:ext cx="3326282" cy="2788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2452" y="5468112"/>
            <a:ext cx="3326282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E8002D"/>
                </a:solidFill>
                <a:latin typeface="Helvetica Neue"/>
              </a:rPr>
              <a:t>03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Brands that grow together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YA9hXRUeOYBlkPjLKEdr6mM4RiU.jpg"/>
          <p:cNvPicPr>
            <a:picLocks noChangeAspect="1"/>
          </p:cNvPicPr>
          <p:nvPr/>
        </p:nvPicPr>
        <p:blipFill>
          <a:blip r:embed="rId2"/>
          <a:srcRect l="4783" r="4783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01 / THE SMTHG CONCEPT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621792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A new channel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for your sales.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7004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B9B5AE"/>
                </a:solidFill>
                <a:latin typeface="Helvetica Neue"/>
              </a:rPr>
              <a:t>It starts with a drop.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03504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B9B5AE"/>
                </a:solidFill>
                <a:latin typeface="Helvetica Neue"/>
              </a:rPr>
              <a:t>Limited drops, available for a limited time.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B9B5AE"/>
                </a:solidFill>
                <a:latin typeface="Helvetica Neue"/>
              </a:rPr>
              <a:t>We take care of the creators. You don’t need to think about it.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B9B5AE"/>
                </a:solidFill>
                <a:latin typeface="Helvetica Neue"/>
              </a:rPr>
              <a:t>Add your regular collection when you are ready.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01 / THE SMTHG CONCEPT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161616"/>
                </a:solidFill>
                <a:latin typeface="Helvetica Neue"/>
              </a:rPr>
              <a:t>Your piece, on a real body.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83664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5C5A56"/>
                </a:solidFill>
                <a:latin typeface="Helvetica Neue"/>
              </a:rPr>
              <a:t>Virtual try-on, for creators and shoppers.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97480"/>
            <a:ext cx="475488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ctr"/>
          </a:p>
        </p:txBody>
      </p:sp>
      <p:pic>
        <p:nvPicPr>
          <p:cNvPr id="6" name="Picture 5" descr="smthg_landing_v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662" y="2834640"/>
            <a:ext cx="4053474" cy="3520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97880" y="2697480"/>
            <a:ext cx="5470855" cy="1179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97880" y="2697480"/>
            <a:ext cx="45720" cy="1179576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53912" y="2843784"/>
            <a:ext cx="495879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For creators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3209544"/>
            <a:ext cx="4958791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Show your pieces without a sample.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3995928"/>
            <a:ext cx="5470855" cy="1179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97880" y="3995928"/>
            <a:ext cx="45720" cy="1179576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4142232"/>
            <a:ext cx="495879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For shoppers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4507992"/>
            <a:ext cx="4958791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See it on your own body before buying.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5294376"/>
            <a:ext cx="5470855" cy="1179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97880" y="5294376"/>
            <a:ext cx="45720" cy="1179576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5440680"/>
            <a:ext cx="495879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True to the piece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5806440"/>
            <a:ext cx="4958791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Colour, fit and materials as they 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01 / THE SMTHG CONCEPT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Driven by creators and members.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83664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B9B5AE"/>
                </a:solidFill>
                <a:latin typeface="Helvetica Neue"/>
              </a:rPr>
              <a:t>Creators bring their followers. Fashion lovers keep it going.</a:t>
            </a:r>
          </a:p>
        </p:txBody>
      </p:sp>
      <p:pic>
        <p:nvPicPr>
          <p:cNvPr id="5" name="Picture 4" descr="smthg_landing_brandpo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62009"/>
            <a:ext cx="3307384" cy="25569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285232"/>
            <a:ext cx="841248" cy="45720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440680"/>
            <a:ext cx="33073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Brand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33872"/>
            <a:ext cx="3307384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B9B5AE"/>
                </a:solidFill>
                <a:latin typeface="Helvetica Neue"/>
              </a:rPr>
              <a:t>Your drops and your story.</a:t>
            </a:r>
          </a:p>
        </p:txBody>
      </p:sp>
      <p:pic>
        <p:nvPicPr>
          <p:cNvPr id="9" name="Picture 8" descr="smthg_landing_stylepo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202" y="2560320"/>
            <a:ext cx="3209461" cy="2560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441240" y="5285232"/>
            <a:ext cx="841248" cy="45720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1240" y="5440680"/>
            <a:ext cx="33073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Style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1240" y="5833872"/>
            <a:ext cx="3307384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B9B5AE"/>
                </a:solidFill>
                <a:latin typeface="Helvetica Neue"/>
              </a:rPr>
              <a:t>Members share what they love.</a:t>
            </a:r>
          </a:p>
        </p:txBody>
      </p:sp>
      <p:pic>
        <p:nvPicPr>
          <p:cNvPr id="13" name="Picture 12" descr="smthg_landing_liv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9521" y="2928097"/>
            <a:ext cx="3307384" cy="182476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059521" y="5285232"/>
            <a:ext cx="841248" cy="45720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59521" y="5440680"/>
            <a:ext cx="33073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Live 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9521" y="5833872"/>
            <a:ext cx="3307384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B9B5AE"/>
                </a:solidFill>
                <a:latin typeface="Helvetica Neue"/>
              </a:rPr>
              <a:t>Run live sessions with your brand ambassadors and grow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thg_poster.png"/>
          <p:cNvPicPr>
            <a:picLocks noChangeAspect="1"/>
          </p:cNvPicPr>
          <p:nvPr/>
        </p:nvPicPr>
        <p:blipFill>
          <a:blip r:embed="rId2"/>
          <a:srcRect l="6450" r="6450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01 / THE SMTHG CONCEPT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621792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161616"/>
                </a:solidFill>
                <a:latin typeface="Helvetica Neue"/>
              </a:rPr>
              <a:t>Brands that grow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161616"/>
                </a:solidFill>
                <a:latin typeface="Helvetica Neue"/>
              </a:rPr>
              <a:t>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7004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5C5A56"/>
                </a:solidFill>
                <a:latin typeface="Helvetica Neue"/>
              </a:rPr>
              <a:t>Cross-pollination between labels of a similar style.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6035040" cy="21762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5C5A56"/>
                </a:solidFill>
                <a:latin typeface="Helvetica Neue"/>
              </a:rPr>
              <a:t>Labels with a similar style share their audiences.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5C5A56"/>
                </a:solidFill>
                <a:latin typeface="Helvetica Neue"/>
              </a:rPr>
              <a:t>Shoppers who love one label discover the next.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5C5A56"/>
                </a:solidFill>
                <a:latin typeface="Helvetica Neue"/>
              </a:rPr>
              <a:t>Their buyers discover you. Your buyers discover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thg_tvs.png"/>
          <p:cNvPicPr>
            <a:picLocks noChangeAspect="1"/>
          </p:cNvPicPr>
          <p:nvPr/>
        </p:nvPicPr>
        <p:blipFill>
          <a:blip r:embed="rId2"/>
          <a:srcRect l="4474" r="4474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02 / THE PROBLEM SMTHG SOLVES FOR BRANDS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621792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Great labels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stay unseen.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7004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B9B5AE"/>
                </a:solidFill>
                <a:latin typeface="Helvetica Neue"/>
              </a:rPr>
              <a:t>Being found is the hardest part.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E8002D"/>
                </a:solidFill>
                <a:latin typeface="Helvetica Neue"/>
              </a:rPr>
              <a:t>5.5%*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3493008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reach per post, as a share of followers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15968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E8002D"/>
                </a:solidFill>
                <a:latin typeface="Helvetica Neue"/>
              </a:rPr>
              <a:t>1.3%**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425696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of store visitors buy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48656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E8002D"/>
                </a:solidFill>
                <a:latin typeface="Helvetica Neue"/>
              </a:rPr>
              <a:t>Alone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5358384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no shared audience, no community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528816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E6B66"/>
                </a:solidFill>
                <a:latin typeface="Helvetica Neue"/>
              </a:rPr>
              <a:t>* </a:t>
            </a:r>
            <a:r>
              <a:rPr sz="1000" b="0">
                <a:solidFill>
                  <a:srgbClr val="6E6B66"/>
                </a:solidFill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Socialinsider, 2025–2026</a:t>
            </a:r>
            <a:r>
              <a:rPr sz="1000" b="0">
                <a:solidFill>
                  <a:srgbClr val="6E6B66"/>
                </a:solidFill>
                <a:latin typeface="Helvetica Neue"/>
              </a:rPr>
              <a:t>     ** </a:t>
            </a:r>
            <a:r>
              <a:rPr sz="1000" b="0">
                <a:solidFill>
                  <a:srgbClr val="6E6B66"/>
                </a:solidFill>
                <a:latin typeface="Helvetica Neu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Littledata,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thg_neon.png"/>
          <p:cNvPicPr>
            <a:picLocks noChangeAspect="1"/>
          </p:cNvPicPr>
          <p:nvPr/>
        </p:nvPicPr>
        <p:blipFill>
          <a:blip r:embed="rId2"/>
          <a:srcRect l="5158" r="5158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02 / THE PROBLEM SMTHG SOLVES FOR BRANDS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6217920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Old-fashioned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marketplaces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don’t fix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B9B5AE"/>
                </a:solidFill>
                <a:latin typeface="Helvetica Neue"/>
              </a:rPr>
              <a:t>A listing alone does not get you found.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60350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B9B5AE"/>
                </a:solidFill>
                <a:latin typeface="Helvetica Neue"/>
              </a:rPr>
              <a:t>Shoppers search a catalogue. Nobody introduces your label.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B9B5AE"/>
                </a:solidFill>
                <a:latin typeface="Helvetica Neue"/>
              </a:rPr>
              <a:t>Getting seen takes heavy marketing investment.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B9B5AE"/>
                </a:solidFill>
                <a:latin typeface="Helvetica Neue"/>
              </a:rPr>
              <a:t>The marketplace itself needs samples.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thg_instagram_dj.png"/>
          <p:cNvPicPr>
            <a:picLocks noChangeAspect="1"/>
          </p:cNvPicPr>
          <p:nvPr/>
        </p:nvPicPr>
        <p:blipFill>
          <a:blip r:embed="rId2"/>
          <a:srcRect l="6612" r="6612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03 / WORKING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621792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161616"/>
                </a:solidFill>
                <a:latin typeface="Helvetica Neue"/>
              </a:rPr>
              <a:t>How a drop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161616"/>
                </a:solidFill>
                <a:latin typeface="Helvetica Neue"/>
              </a:rPr>
              <a:t>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7004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5C5A56"/>
                </a:solidFill>
                <a:latin typeface="Helvetica Neue"/>
              </a:rPr>
              <a:t>You make it. smthg sells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6035040" cy="2331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5C5A56"/>
                </a:solidFill>
                <a:latin typeface="Helvetica Neue"/>
              </a:rPr>
              <a:t>You set the drop window and the quantities.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5C5A56"/>
                </a:solidFill>
                <a:latin typeface="Helvetica Neue"/>
              </a:rPr>
              <a:t>Creators and the community build demand.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5C5A56"/>
                </a:solidFill>
                <a:latin typeface="Helvetica Neue"/>
              </a:rPr>
              <a:t>smthg takes payment and handles tax.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5C5A56"/>
                </a:solidFill>
                <a:latin typeface="Helvetica Neue"/>
              </a:rPr>
              <a:t>When orders close, you ship to each buyer and handle returns.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Then add your regular collection.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thg_doorbell.png"/>
          <p:cNvPicPr>
            <a:picLocks noChangeAspect="1"/>
          </p:cNvPicPr>
          <p:nvPr/>
        </p:nvPicPr>
        <p:blipFill>
          <a:blip r:embed="rId2"/>
          <a:srcRect l="6744" r="6744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03 / WORKING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621792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30%. Only when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you sell.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7004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B9B5AE"/>
                </a:solidFill>
                <a:latin typeface="Helvetica Neue"/>
              </a:rPr>
              <a:t>Creators, marketing, payments and platform, all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6035040" cy="21762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 strike="sngStrike">
                <a:solidFill>
                  <a:srgbClr val="B9B5AE"/>
                </a:solidFill>
                <a:latin typeface="Helvetica Neue"/>
              </a:rPr>
              <a:t>$500/mo</a:t>
            </a:r>
            <a:r>
              <a:rPr sz="2000" b="0">
                <a:solidFill>
                  <a:srgbClr val="B9B5AE"/>
                </a:solidFill>
                <a:latin typeface="Helvetica Neue"/>
              </a:rPr>
              <a:t>  </a:t>
            </a:r>
            <a:r>
              <a:rPr sz="2000" b="0" strike="sngStrike">
                <a:solidFill>
                  <a:srgbClr val="B9B5AE"/>
                </a:solidFill>
                <a:latin typeface="Helvetica Neue"/>
              </a:rPr>
              <a:t>$250/mo</a:t>
            </a:r>
            <a:r>
              <a:rPr sz="2000" b="1">
                <a:solidFill>
                  <a:srgbClr val="E8002D"/>
                </a:solidFill>
                <a:latin typeface="Helvetica Neue"/>
              </a:rPr>
              <a:t>  Free</a:t>
            </a:r>
            <a:r>
              <a:rPr sz="2000" b="1">
                <a:solidFill>
                  <a:srgbClr val="FFFFFF"/>
                </a:solidFill>
                <a:latin typeface="Helvetica Neue"/>
              </a:rPr>
              <a:t> for brands that join now.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thg_reddress.png"/>
          <p:cNvPicPr>
            <a:picLocks noChangeAspect="1"/>
          </p:cNvPicPr>
          <p:nvPr/>
        </p:nvPicPr>
        <p:blipFill>
          <a:blip r:embed="rId2"/>
          <a:srcRect l="7186" r="7186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03 / WORKING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621792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161616"/>
                </a:solidFill>
                <a:latin typeface="Helvetica Neue"/>
              </a:rPr>
              <a:t>Your designs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161616"/>
                </a:solidFill>
                <a:latin typeface="Helvetica Neue"/>
              </a:rPr>
              <a:t>stay yours.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7004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5C5A56"/>
                </a:solidFill>
                <a:latin typeface="Helvetica Neue"/>
              </a:rPr>
              <a:t>From the smthg Designer Terms.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6035040" cy="21762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5C5A56"/>
                </a:solidFill>
                <a:latin typeface="Helvetica Neue"/>
              </a:rPr>
              <a:t>You keep all intellectual property.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5C5A56"/>
                </a:solidFill>
                <a:latin typeface="Helvetica Neue"/>
              </a:rPr>
              <a:t>You set your own prices.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5C5A56"/>
                </a:solidFill>
                <a:latin typeface="Helvetica Neue"/>
              </a:rPr>
              <a:t>Set up your Brand Space in your own style, to show who you 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thg_taxi.png"/>
          <p:cNvPicPr>
            <a:picLocks noChangeAspect="1"/>
          </p:cNvPicPr>
          <p:nvPr/>
        </p:nvPicPr>
        <p:blipFill>
          <a:blip r:embed="rId2"/>
          <a:srcRect l="6272" r="6272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04 / THE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621792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The pilot.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7004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B9B5AE"/>
                </a:solidFill>
                <a:latin typeface="Helvetica Neue"/>
              </a:rPr>
              <a:t>The first drops on smthg.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E8002D"/>
                </a:solidFill>
                <a:latin typeface="Helvetica Neue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78808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B9B5AE"/>
                </a:solidFill>
                <a:latin typeface="Helvetica Neue"/>
              </a:rPr>
              <a:t>brands launching together in the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42900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E8002D"/>
                </a:solidFill>
                <a:latin typeface="Helvetica Neue"/>
              </a:rPr>
              <a:t>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4178808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B9B5AE"/>
                </a:solidFill>
                <a:latin typeface="Helvetica Neue"/>
              </a:rPr>
              <a:t>fashion lovers in the pilot community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E8002D"/>
                </a:solidFill>
                <a:latin typeface="Helvetica Neue"/>
              </a:rPr>
              <a:t>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96128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B9B5AE"/>
                </a:solidFill>
                <a:latin typeface="Helvetica Neue"/>
              </a:rPr>
              <a:t>consumers first. EU is optional.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84632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E8002D"/>
                </a:solidFill>
                <a:latin typeface="Helvetica Neue"/>
              </a:rPr>
              <a:t>Creators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5596128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B9B5AE"/>
                </a:solidFill>
                <a:latin typeface="Helvetica Neue"/>
              </a:rPr>
              <a:t>bring your first brand enthusiasts, who become your buyers. We take care of them.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thg_laundromat.png"/>
          <p:cNvPicPr>
            <a:picLocks noChangeAspect="1"/>
          </p:cNvPicPr>
          <p:nvPr/>
        </p:nvPicPr>
        <p:blipFill>
          <a:blip r:embed="rId2"/>
          <a:srcRect l="4697" r="4697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5486400" cy="431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 spc="-60">
                <a:solidFill>
                  <a:srgbClr val="FFFFFF"/>
                </a:solidFill>
                <a:latin typeface="Helvetica Neue"/>
              </a:rPr>
              <a:t>smthg</a:t>
            </a:r>
            <a:r>
              <a:rPr sz="2000" b="1" spc="-60">
                <a:solidFill>
                  <a:srgbClr val="E8002D"/>
                </a:solidFill>
                <a:latin typeface="Helvetica Neue"/>
              </a:rPr>
              <a:t>.</a:t>
            </a:r>
            <a:r>
              <a:rPr sz="2000" b="1" spc="-60">
                <a:solidFill>
                  <a:srgbClr val="FFFFFF"/>
                </a:solidFill>
                <a:latin typeface="Helvetica Neue"/>
              </a:rPr>
              <a:t>  it’s so me!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841248" cy="45720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6309360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Your world deserves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its people.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Become a Founding Brand.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53328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  <a:hlinkClick r:id="rId3"/>
              </a:rPr>
              <a:t>smthg.us/for-designers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smthg.us — The Product v8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