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2" r:id="rId3"/>
    <p:sldId id="271" r:id="rId4"/>
    <p:sldId id="258" r:id="rId5"/>
    <p:sldId id="262" r:id="rId6"/>
    <p:sldId id="259" r:id="rId7"/>
    <p:sldId id="260" r:id="rId8"/>
    <p:sldId id="261" r:id="rId9"/>
    <p:sldId id="263" r:id="rId10"/>
    <p:sldId id="264" r:id="rId11"/>
    <p:sldId id="257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0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3386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commercedb.co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esearchandmarkets.com" TargetMode="External"/><Relationship Id="rId5" Type="http://schemas.openxmlformats.org/officeDocument/2006/relationships/hyperlink" Target="https://www.emarketer.com" TargetMode="External"/><Relationship Id="rId4" Type="http://schemas.openxmlformats.org/officeDocument/2006/relationships/hyperlink" Target="https://www.mordorintelligence.com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1488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2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 FERRA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685800" y="34290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AA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AI-native marketplace for affordable-luxury fashion drops.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40690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9B9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· emerging designers · for consumers seeking their own style and new brands to discover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June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4884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53312" y="21305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fashion can't launch without big risk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916936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53312" y="289864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AI-native pre-order drops platform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68503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53312" y="366674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the micro-influencer shift, and Gen Z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453128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53312" y="44348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— How it works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Try-on, niche discovery, creator match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5221224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53312" y="520293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/ SAM / SOM with transparent math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148840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114032" y="213055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 &amp; path to $10K/</a:t>
            </a:r>
            <a:r>
              <a:rPr lang="en-US" sz="1150" dirty="0" err="1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916936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114032" y="289864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Seeding all three sides, then the loop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3685032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14032" y="366674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vision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drop model to a creative platform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0" y="4453128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114032" y="44348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in retail &amp; the creator economy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0" y="5221224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114032" y="520293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request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pre-seed — 12 month runway</a:t>
            </a:r>
            <a:endParaRPr lang="en-US" sz="1800" dirty="0"/>
          </a:p>
        </p:txBody>
      </p:sp>
      <p:sp>
        <p:nvSpPr>
          <p:cNvPr id="26" name="BADGE_2026_UPDATE">
            <a:extLst>
              <a:ext uri="{FF2B5EF4-FFF2-40B4-BE49-F238E27FC236}">
                <a16:creationId xmlns:a16="http://schemas.microsoft.com/office/drawing/2014/main" id="{1815B368-B25F-71AA-D896-D69943EDB432}"/>
              </a:ext>
            </a:extLst>
          </p:cNvPr>
          <p:cNvSpPr/>
          <p:nvPr/>
        </p:nvSpPr>
        <p:spPr>
          <a:xfrm>
            <a:off x="8935711" y="313816"/>
            <a:ext cx="2050000" cy="500000"/>
          </a:xfrm>
          <a:prstGeom prst="roundRect">
            <a:avLst>
              <a:gd name="adj" fmla="val 22000"/>
            </a:avLst>
          </a:prstGeom>
          <a:solidFill>
            <a:srgbClr val="1FA45F"/>
          </a:solidFill>
          <a:ln>
            <a:noFill/>
          </a:ln>
        </p:spPr>
        <p:txBody>
          <a:bodyPr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Internal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fashion can't launch</a:t>
            </a:r>
            <a:r>
              <a:rPr lang="en-US" sz="3800" dirty="0"/>
              <a:t> </a:t>
            </a: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big risk. Consumers can’t find their unique style.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1285800" y="2468880"/>
            <a:ext cx="45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can't launch without risk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85800" y="3127248"/>
            <a:ext cx="45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Producing inventory upfront is expensive, and marketplaces take 25–52% of every sale.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955080" y="2468880"/>
            <a:ext cx="45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platforms are affiliate-only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955080" y="3127248"/>
            <a:ext cx="45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need products already in stock and charge brands thousands a year upfront — no pre-order, no try-on, no shared upside.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85800" y="4389120"/>
            <a:ext cx="45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influencers who sell are shut out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285800" y="5047488"/>
            <a:ext cx="45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89.5% of influencers — the nano and micro tiers under 50K whose communities actually buy — don't fit those platforms.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55080" y="4389120"/>
            <a:ext cx="45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 can't discover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55080" y="5047488"/>
            <a:ext cx="45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fashion-native place to find emerging brands or their own look — just the same mass-market trends.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00" name="Circle 0"/>
          <p:cNvSpPr/>
          <p:nvPr/>
        </p:nvSpPr>
        <p:spPr>
          <a:xfrm>
            <a:off x="685800" y="2551780"/>
            <a:ext cx="520000" cy="520000"/>
          </a:xfrm>
          <a:prstGeom prst="ellipse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01" name="Icon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00" y="2661780"/>
            <a:ext cx="300000" cy="300000"/>
          </a:xfrm>
          <a:prstGeom prst="rect">
            <a:avLst/>
          </a:prstGeom>
        </p:spPr>
      </p:pic>
      <p:sp>
        <p:nvSpPr>
          <p:cNvPr id="302" name="Circle 1"/>
          <p:cNvSpPr/>
          <p:nvPr/>
        </p:nvSpPr>
        <p:spPr>
          <a:xfrm>
            <a:off x="6355080" y="2551780"/>
            <a:ext cx="520000" cy="520000"/>
          </a:xfrm>
          <a:prstGeom prst="ellipse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03" name="Ic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080" y="2661780"/>
            <a:ext cx="300000" cy="300000"/>
          </a:xfrm>
          <a:prstGeom prst="rect">
            <a:avLst/>
          </a:prstGeom>
        </p:spPr>
      </p:pic>
      <p:sp>
        <p:nvSpPr>
          <p:cNvPr id="304" name="Circle 2"/>
          <p:cNvSpPr/>
          <p:nvPr/>
        </p:nvSpPr>
        <p:spPr>
          <a:xfrm>
            <a:off x="685800" y="4472020"/>
            <a:ext cx="520000" cy="520000"/>
          </a:xfrm>
          <a:prstGeom prst="ellipse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05" name="Ico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800" y="4582020"/>
            <a:ext cx="300000" cy="300000"/>
          </a:xfrm>
          <a:prstGeom prst="rect">
            <a:avLst/>
          </a:prstGeom>
        </p:spPr>
      </p:pic>
      <p:sp>
        <p:nvSpPr>
          <p:cNvPr id="306" name="Circle 3"/>
          <p:cNvSpPr/>
          <p:nvPr/>
        </p:nvSpPr>
        <p:spPr>
          <a:xfrm>
            <a:off x="6355080" y="4472020"/>
            <a:ext cx="520000" cy="520000"/>
          </a:xfrm>
          <a:prstGeom prst="ellipse">
            <a:avLst/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307" name="Ico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5080" y="4582020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AI-native drops platform where</a:t>
            </a:r>
            <a:endParaRPr lang="en-US" sz="38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brands, influencers &amp; consumers meet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606040"/>
            <a:ext cx="777240" cy="777240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5" name="Image 0" descr="/tmp/tf/icons/box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807208"/>
            <a:ext cx="374904" cy="3749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560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Pre-order drops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91640" y="3063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sell before they produce — no inventory risk, no upfront fees. They fulfil; we provide the platform.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55080" y="2606040"/>
            <a:ext cx="777240" cy="777240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9" name="Image 1" descr="/tmp/tf/icons/camera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2807208"/>
            <a:ext cx="374904" cy="3749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60920" y="2560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virtual try-on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7360920" y="3063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Influencers try the look on virtually — just like consumers — then share. Every share spreads the drop and pulls new users onto the platform.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85800" y="4526280"/>
            <a:ext cx="777240" cy="777240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13" name="Image 2" descr="/tmp/tf/icons/compass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727448"/>
            <a:ext cx="374904" cy="3749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480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Niche-style discovery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1691640" y="49834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 find their own niche style and discover new emerging brands — not the most-hyped or mass market item.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355080" y="4526280"/>
            <a:ext cx="777240" cy="777240"/>
          </a:xfrm>
          <a:prstGeom prst="ellipse">
            <a:avLst/>
          </a:prstGeom>
          <a:solidFill>
            <a:srgbClr val="F4F4F4"/>
          </a:solidFill>
          <a:ln/>
        </p:spPr>
      </p:sp>
      <p:pic>
        <p:nvPicPr>
          <p:cNvPr id="17" name="Image 3" descr="/tmp/tf/icons/hand_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4727448"/>
            <a:ext cx="374904" cy="3749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60920" y="4480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share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360920" y="4983480"/>
            <a:ext cx="4114800" cy="14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access, sold-out moments, founding-member status turn consumers into superfans — and every micro-influencer earns a real cut. The growth spiral runs itself.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WHY NOW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 is open now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1832689"/>
            <a:ext cx="3352800" cy="3200400"/>
          </a:xfrm>
          <a:prstGeom prst="roundRect">
            <a:avLst>
              <a:gd name="adj" fmla="val 2286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04360" y="1832689"/>
            <a:ext cx="3352800" cy="3200400"/>
          </a:xfrm>
          <a:prstGeom prst="roundRect">
            <a:avLst>
              <a:gd name="adj" fmla="val 2286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122920" y="1832689"/>
            <a:ext cx="3352800" cy="3200400"/>
          </a:xfrm>
          <a:prstGeom prst="roundRect">
            <a:avLst>
              <a:gd name="adj" fmla="val 2286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0" name="Stat 0"/>
          <p:cNvSpPr/>
          <p:nvPr/>
        </p:nvSpPr>
        <p:spPr>
          <a:xfrm>
            <a:off x="985800" y="2235289"/>
            <a:ext cx="2752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EE6B1F"/>
                </a:solidFill>
                <a:latin typeface="Arial" pitchFamily="34" charset="0"/>
                <a:cs typeface="Arial" pitchFamily="34" charset="0"/>
              </a:rPr>
              <a:t>2024</a:t>
            </a:r>
          </a:p>
        </p:txBody>
      </p:sp>
      <p:sp>
        <p:nvSpPr>
          <p:cNvPr id="41" name="Label 0"/>
          <p:cNvSpPr/>
          <p:nvPr/>
        </p:nvSpPr>
        <p:spPr>
          <a:xfrm>
            <a:off x="985800" y="3235249"/>
            <a:ext cx="2752800" cy="5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F4897"/>
                </a:solidFill>
                <a:latin typeface="Arial" pitchFamily="34" charset="0"/>
                <a:cs typeface="Arial" pitchFamily="34" charset="0"/>
              </a:rPr>
              <a:t>AI just arrived</a:t>
            </a:r>
          </a:p>
        </p:txBody>
      </p:sp>
      <p:sp>
        <p:nvSpPr>
          <p:cNvPr id="42" name="Body 0"/>
          <p:cNvSpPr/>
          <p:nvPr/>
        </p:nvSpPr>
        <p:spPr>
          <a:xfrm>
            <a:off x="985800" y="3775249"/>
            <a:ext cx="2752800" cy="123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Virtual try-on went from enterprise-only (2023) to any platform via API (2024). Closing micro-influencers is now automatable too.</a:t>
            </a:r>
          </a:p>
        </p:txBody>
      </p:sp>
      <p:sp>
        <p:nvSpPr>
          <p:cNvPr id="43" name="Stat 1"/>
          <p:cNvSpPr/>
          <p:nvPr/>
        </p:nvSpPr>
        <p:spPr>
          <a:xfrm>
            <a:off x="4704360" y="2235289"/>
            <a:ext cx="2752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EE6B1F"/>
                </a:solidFill>
                <a:latin typeface="Arial" pitchFamily="34" charset="0"/>
                <a:cs typeface="Arial" pitchFamily="34" charset="0"/>
              </a:rPr>
              <a:t>$5.25B</a:t>
            </a:r>
          </a:p>
        </p:txBody>
      </p:sp>
      <p:sp>
        <p:nvSpPr>
          <p:cNvPr id="44" name="Label 1"/>
          <p:cNvSpPr/>
          <p:nvPr/>
        </p:nvSpPr>
        <p:spPr>
          <a:xfrm>
            <a:off x="4704360" y="3235249"/>
            <a:ext cx="2752800" cy="5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F4897"/>
                </a:solidFill>
                <a:latin typeface="Arial" pitchFamily="34" charset="0"/>
                <a:cs typeface="Arial" pitchFamily="34" charset="0"/>
              </a:rPr>
              <a:t>Flowing to micro</a:t>
            </a:r>
          </a:p>
        </p:txBody>
      </p:sp>
      <p:sp>
        <p:nvSpPr>
          <p:cNvPr id="45" name="Body 1"/>
          <p:cNvSpPr/>
          <p:nvPr/>
        </p:nvSpPr>
        <p:spPr>
          <a:xfrm>
            <a:off x="4704360" y="3775249"/>
            <a:ext cx="2752800" cy="123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About 50% of all creator spend now flows to nano &amp; micro influencers — yet platforms route around them.</a:t>
            </a:r>
          </a:p>
        </p:txBody>
      </p:sp>
      <p:sp>
        <p:nvSpPr>
          <p:cNvPr id="46" name="Stat 2"/>
          <p:cNvSpPr/>
          <p:nvPr/>
        </p:nvSpPr>
        <p:spPr>
          <a:xfrm>
            <a:off x="8422920" y="2235289"/>
            <a:ext cx="27528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EE6B1F"/>
                </a:solidFill>
                <a:latin typeface="Arial" pitchFamily="34" charset="0"/>
                <a:cs typeface="Arial" pitchFamily="34" charset="0"/>
              </a:rPr>
              <a:t>40%</a:t>
            </a:r>
          </a:p>
        </p:txBody>
      </p:sp>
      <p:sp>
        <p:nvSpPr>
          <p:cNvPr id="47" name="Label 2"/>
          <p:cNvSpPr/>
          <p:nvPr/>
        </p:nvSpPr>
        <p:spPr>
          <a:xfrm>
            <a:off x="8422920" y="3235249"/>
            <a:ext cx="2752800" cy="50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3F4897"/>
                </a:solidFill>
                <a:latin typeface="Arial" pitchFamily="34" charset="0"/>
                <a:cs typeface="Arial" pitchFamily="34" charset="0"/>
              </a:rPr>
              <a:t>Gen Z by 2035</a:t>
            </a:r>
          </a:p>
        </p:txBody>
      </p:sp>
      <p:sp>
        <p:nvSpPr>
          <p:cNvPr id="48" name="Body 2"/>
          <p:cNvSpPr/>
          <p:nvPr/>
        </p:nvSpPr>
        <p:spPr>
          <a:xfrm>
            <a:off x="8422920" y="3775249"/>
            <a:ext cx="2752800" cy="123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Gen Z drives ~40% of fashion spend by 2035 — discovering via micro-influencers and prizing unique over mass-market.</a:t>
            </a:r>
          </a:p>
        </p:txBody>
      </p:sp>
      <p:sp>
        <p:nvSpPr>
          <p:cNvPr id="5" name="Shape 15">
            <a:extLst>
              <a:ext uri="{FF2B5EF4-FFF2-40B4-BE49-F238E27FC236}">
                <a16:creationId xmlns:a16="http://schemas.microsoft.com/office/drawing/2014/main" id="{77AFEA1D-8100-4652-B3CB-0468BFE1A745}"/>
              </a:ext>
            </a:extLst>
          </p:cNvPr>
          <p:cNvSpPr/>
          <p:nvPr/>
        </p:nvSpPr>
        <p:spPr>
          <a:xfrm>
            <a:off x="640080" y="5547684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0E0E0E"/>
          </a:solidFill>
          <a:ln/>
        </p:spPr>
      </p:sp>
      <p:sp>
        <p:nvSpPr>
          <p:cNvPr id="6" name="Text 16">
            <a:extLst>
              <a:ext uri="{FF2B5EF4-FFF2-40B4-BE49-F238E27FC236}">
                <a16:creationId xmlns:a16="http://schemas.microsoft.com/office/drawing/2014/main" id="{CAC48F98-16E8-8153-1C7A-363398870307}"/>
              </a:ext>
            </a:extLst>
          </p:cNvPr>
          <p:cNvSpPr/>
          <p:nvPr/>
        </p:nvSpPr>
        <p:spPr>
          <a:xfrm>
            <a:off x="1051560" y="5547684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open and unbuilt</a:t>
            </a:r>
            <a:r>
              <a:rPr lang="en-US" sz="17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en-US" sz="1700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platform combines open global access, pre-order drops, AI try-on and shared influencer upside. The window won't stay open.</a:t>
            </a:r>
            <a:endParaRPr lang="en-US" sz="1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6">
            <a:extLst>
              <a:ext uri="{FF2B5EF4-FFF2-40B4-BE49-F238E27FC236}">
                <a16:creationId xmlns:a16="http://schemas.microsoft.com/office/drawing/2014/main" id="{E379B7EF-E35E-DD59-B0E4-1190295A65F5}"/>
              </a:ext>
            </a:extLst>
          </p:cNvPr>
          <p:cNvSpPr/>
          <p:nvPr/>
        </p:nvSpPr>
        <p:spPr>
          <a:xfrm flipH="1">
            <a:off x="3112009" y="4975788"/>
            <a:ext cx="7025510" cy="27804"/>
          </a:xfrm>
          <a:prstGeom prst="line">
            <a:avLst/>
          </a:prstGeom>
          <a:noFill/>
          <a:ln w="38100">
            <a:solidFill>
              <a:srgbClr val="EE6B1F"/>
            </a:solidFill>
            <a:prstDash val="solid"/>
            <a:tailEnd type="triangle"/>
          </a:ln>
        </p:spPr>
      </p:sp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PRODUCT - HOW IT WORKS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loop that grows itself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395728" cy="3063240"/>
          </a:xfrm>
          <a:prstGeom prst="roundRect">
            <a:avLst>
              <a:gd name="adj" fmla="val 3053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26464" y="25146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tmp/tf/icons/store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27340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5661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14400" y="406908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Launch a drop — no inventory, no stock risk.</a:t>
            </a:r>
          </a:p>
        </p:txBody>
      </p:sp>
      <p:sp>
        <p:nvSpPr>
          <p:cNvPr id="9" name="Shape 6"/>
          <p:cNvSpPr/>
          <p:nvPr/>
        </p:nvSpPr>
        <p:spPr>
          <a:xfrm>
            <a:off x="3136392" y="3680460"/>
            <a:ext cx="292608" cy="0"/>
          </a:xfrm>
          <a:prstGeom prst="line">
            <a:avLst/>
          </a:prstGeom>
          <a:noFill/>
          <a:ln w="38100">
            <a:solidFill>
              <a:srgbClr val="EE6B1F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483864" y="2148840"/>
            <a:ext cx="2395728" cy="3063240"/>
          </a:xfrm>
          <a:prstGeom prst="roundRect">
            <a:avLst>
              <a:gd name="adj" fmla="val 3053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24528" y="25146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tf/icons/users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984" y="273405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66744" y="35661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Influencers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3712464" y="406908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Promote to their own audience and earn a cut.</a:t>
            </a:r>
          </a:p>
        </p:txBody>
      </p:sp>
      <p:sp>
        <p:nvSpPr>
          <p:cNvPr id="15" name="Shape 11"/>
          <p:cNvSpPr/>
          <p:nvPr/>
        </p:nvSpPr>
        <p:spPr>
          <a:xfrm>
            <a:off x="5934456" y="3680460"/>
            <a:ext cx="292608" cy="0"/>
          </a:xfrm>
          <a:prstGeom prst="line">
            <a:avLst/>
          </a:prstGeom>
          <a:noFill/>
          <a:ln w="38100">
            <a:solidFill>
              <a:srgbClr val="EE6B1F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281928" y="2148840"/>
            <a:ext cx="2395728" cy="3063240"/>
          </a:xfrm>
          <a:prstGeom prst="roundRect">
            <a:avLst>
              <a:gd name="adj" fmla="val 3053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22592" y="25146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/tmp/tf/icons/bag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273405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64808" y="35661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Consumers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6510528" y="406908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Try on, pre-order, and share for identity &amp; access.</a:t>
            </a:r>
          </a:p>
        </p:txBody>
      </p:sp>
      <p:sp>
        <p:nvSpPr>
          <p:cNvPr id="21" name="Shape 16"/>
          <p:cNvSpPr/>
          <p:nvPr/>
        </p:nvSpPr>
        <p:spPr>
          <a:xfrm>
            <a:off x="8732520" y="3680460"/>
            <a:ext cx="292608" cy="0"/>
          </a:xfrm>
          <a:prstGeom prst="line">
            <a:avLst/>
          </a:prstGeom>
          <a:noFill/>
          <a:ln w="38100">
            <a:solidFill>
              <a:srgbClr val="EE6B1F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9079992" y="2148840"/>
            <a:ext cx="2395728" cy="3063240"/>
          </a:xfrm>
          <a:prstGeom prst="roundRect">
            <a:avLst>
              <a:gd name="adj" fmla="val 3053"/>
            </a:avLst>
          </a:prstGeom>
          <a:solidFill>
            <a:srgbClr val="0E0E0E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20656" y="2514600"/>
            <a:ext cx="914400" cy="914400"/>
          </a:xfrm>
          <a:prstGeom prst="ellipse">
            <a:avLst/>
          </a:prstGeom>
          <a:solidFill>
            <a:srgbClr val="EE6B1F"/>
          </a:solidFill>
          <a:ln/>
        </p:spPr>
      </p:sp>
      <p:pic>
        <p:nvPicPr>
          <p:cNvPr id="24" name="Image 3" descr="/tmp/tf/icons/fir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0112" y="2734056"/>
            <a:ext cx="475488" cy="4754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62872" y="356616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growth</a:t>
            </a:r>
            <a:endParaRPr lang="en-US" sz="2100" dirty="0"/>
          </a:p>
        </p:txBody>
      </p:sp>
      <p:sp>
        <p:nvSpPr>
          <p:cNvPr id="26" name="Text 20"/>
          <p:cNvSpPr/>
          <p:nvPr/>
        </p:nvSpPr>
        <p:spPr>
          <a:xfrm>
            <a:off x="9308592" y="406908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itchFamily="34" charset="0"/>
                <a:cs typeface="Arial" pitchFamily="34" charset="-120"/>
              </a:rPr>
              <a:t>Every share pulls in new consumers, influencers and brands.</a:t>
            </a:r>
          </a:p>
        </p:txBody>
      </p:sp>
      <p:sp>
        <p:nvSpPr>
          <p:cNvPr id="27" name="Shape 21"/>
          <p:cNvSpPr/>
          <p:nvPr/>
        </p:nvSpPr>
        <p:spPr>
          <a:xfrm>
            <a:off x="11018520" y="5486400"/>
            <a:ext cx="0" cy="0"/>
          </a:xfrm>
          <a:prstGeom prst="line">
            <a:avLst/>
          </a:prstGeom>
          <a:noFill/>
          <a:ln w="25400">
            <a:solidFill>
              <a:srgbClr val="3F4897"/>
            </a:solidFill>
            <a:prstDash val="dash"/>
            <a:tailEnd type="triangle"/>
          </a:ln>
        </p:spPr>
      </p:sp>
      <p:sp>
        <p:nvSpPr>
          <p:cNvPr id="29" name="Text 23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1" name="Badge 201"/>
          <p:cNvSpPr/>
          <p:nvPr/>
        </p:nvSpPr>
        <p:spPr>
          <a:xfrm>
            <a:off x="5894760" y="3825203"/>
            <a:ext cx="372000" cy="372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FEFEF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202" name="IconBadge 20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0293" y="3814516"/>
            <a:ext cx="300000" cy="300000"/>
          </a:xfrm>
          <a:prstGeom prst="rect">
            <a:avLst/>
          </a:prstGeom>
        </p:spPr>
      </p:pic>
      <p:pic>
        <p:nvPicPr>
          <p:cNvPr id="206" name="IconBadge 20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320" y="5144272"/>
            <a:ext cx="300000" cy="300000"/>
          </a:xfrm>
          <a:prstGeom prst="rect">
            <a:avLst/>
          </a:prstGeom>
        </p:spPr>
      </p:pic>
      <p:sp>
        <p:nvSpPr>
          <p:cNvPr id="31" name="Shape 15">
            <a:extLst>
              <a:ext uri="{FF2B5EF4-FFF2-40B4-BE49-F238E27FC236}">
                <a16:creationId xmlns:a16="http://schemas.microsoft.com/office/drawing/2014/main" id="{0FB436EC-FBD2-AA49-72A8-D6D7EB26587F}"/>
              </a:ext>
            </a:extLst>
          </p:cNvPr>
          <p:cNvSpPr/>
          <p:nvPr/>
        </p:nvSpPr>
        <p:spPr>
          <a:xfrm>
            <a:off x="640080" y="5547684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0E0E0E"/>
          </a:solidFill>
          <a:ln/>
        </p:spPr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484AA7D0-2B46-E3A0-D98A-C0819EE00309}"/>
              </a:ext>
            </a:extLst>
          </p:cNvPr>
          <p:cNvSpPr/>
          <p:nvPr/>
        </p:nvSpPr>
        <p:spPr>
          <a:xfrm>
            <a:off x="1051560" y="5547684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EE6B1F"/>
                </a:solidFill>
                <a:latin typeface="Arial" pitchFamily="34" charset="0"/>
                <a:cs typeface="Arial" pitchFamily="34" charset="-120"/>
              </a:rPr>
              <a:t>Viral, native growth </a:t>
            </a:r>
            <a:r>
              <a:rPr lang="en-US" sz="1800" i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drop feeds the next, with no paid acquisition.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33" name="Image 2" descr="/tmp/tf/icons/match_o.png">
            <a:extLst>
              <a:ext uri="{FF2B5EF4-FFF2-40B4-BE49-F238E27FC236}">
                <a16:creationId xmlns:a16="http://schemas.microsoft.com/office/drawing/2014/main" id="{E70138C4-0ABA-A362-D588-A70CD311ED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9504" y="3794760"/>
            <a:ext cx="393192" cy="393192"/>
          </a:xfrm>
          <a:prstGeom prst="rect">
            <a:avLst/>
          </a:prstGeom>
        </p:spPr>
      </p:pic>
      <p:sp>
        <p:nvSpPr>
          <p:cNvPr id="36" name="Badge 201">
            <a:extLst>
              <a:ext uri="{FF2B5EF4-FFF2-40B4-BE49-F238E27FC236}">
                <a16:creationId xmlns:a16="http://schemas.microsoft.com/office/drawing/2014/main" id="{6E3F11CF-2DA3-3B27-FBE9-2119755B63BC}"/>
              </a:ext>
            </a:extLst>
          </p:cNvPr>
          <p:cNvSpPr/>
          <p:nvPr/>
        </p:nvSpPr>
        <p:spPr>
          <a:xfrm>
            <a:off x="8702246" y="3821310"/>
            <a:ext cx="372000" cy="372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FEFEF"/>
            </a:solidFill>
          </a:ln>
        </p:spPr>
        <p:txBody>
          <a:bodyPr/>
          <a:lstStyle/>
          <a:p>
            <a:endParaRPr/>
          </a:p>
        </p:txBody>
      </p:sp>
      <p:pic>
        <p:nvPicPr>
          <p:cNvPr id="37" name="IconBadge 202">
            <a:extLst>
              <a:ext uri="{FF2B5EF4-FFF2-40B4-BE49-F238E27FC236}">
                <a16:creationId xmlns:a16="http://schemas.microsoft.com/office/drawing/2014/main" id="{ADC52E6F-5AB5-43C6-1ABF-95B15894E5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7779" y="3810623"/>
            <a:ext cx="300000" cy="3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PRODUCT - HOW IT WORKS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AI-native fashion marketplace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9385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0E0E"/>
                </a:solidFill>
                <a:latin typeface="Arial" pitchFamily="34" charset="0"/>
                <a:cs typeface="Arial" pitchFamily="34" charset="-120"/>
              </a:rPr>
              <a:t>Three AI capabilities — newly affordable to any platform — at the core of every drop.</a:t>
            </a:r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3352800" cy="2743200"/>
          </a:xfrm>
          <a:prstGeom prst="roundRect">
            <a:avLst>
              <a:gd name="adj" fmla="val 2667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8803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tmp/tf/icons/camera_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307238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749040"/>
            <a:ext cx="262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Try-On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51560" y="4310513"/>
            <a:ext cx="262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See any piece on yourself — and on the influencer sharing it — before you pre-order.</a:t>
            </a:r>
          </a:p>
        </p:txBody>
      </p:sp>
      <p:sp>
        <p:nvSpPr>
          <p:cNvPr id="10" name="Shape 7"/>
          <p:cNvSpPr/>
          <p:nvPr/>
        </p:nvSpPr>
        <p:spPr>
          <a:xfrm>
            <a:off x="4404360" y="2606040"/>
            <a:ext cx="3352800" cy="2743200"/>
          </a:xfrm>
          <a:prstGeom prst="roundRect">
            <a:avLst>
              <a:gd name="adj" fmla="val 2667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70120" y="28803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tmp/tf/icons/compass_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2144" y="3072384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0120" y="3749040"/>
            <a:ext cx="262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Niche-style discovery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770120" y="4310513"/>
            <a:ext cx="2778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Surfaces emerging brands matched to your own taste, not the most-hyped or mass-market items.</a:t>
            </a:r>
          </a:p>
        </p:txBody>
      </p:sp>
      <p:sp>
        <p:nvSpPr>
          <p:cNvPr id="15" name="Shape 11"/>
          <p:cNvSpPr/>
          <p:nvPr/>
        </p:nvSpPr>
        <p:spPr>
          <a:xfrm>
            <a:off x="8122920" y="2606040"/>
            <a:ext cx="3352800" cy="2743200"/>
          </a:xfrm>
          <a:prstGeom prst="roundRect">
            <a:avLst>
              <a:gd name="adj" fmla="val 2667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88680" y="28803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tmp/tf/icons/match_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0704" y="3072384"/>
            <a:ext cx="393192" cy="393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88680" y="3749040"/>
            <a:ext cx="262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Match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488680" y="4310513"/>
            <a:ext cx="262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Finds the nano &amp; micro influencers whose audience will actually buy each drop.</a:t>
            </a:r>
          </a:p>
        </p:txBody>
      </p:sp>
      <p:sp>
        <p:nvSpPr>
          <p:cNvPr id="20" name="Shape 15"/>
          <p:cNvSpPr/>
          <p:nvPr/>
        </p:nvSpPr>
        <p:spPr>
          <a:xfrm>
            <a:off x="685800" y="5486400"/>
            <a:ext cx="10789920" cy="868680"/>
          </a:xfrm>
          <a:prstGeom prst="roundRect">
            <a:avLst>
              <a:gd name="adj" fmla="val 8421"/>
            </a:avLst>
          </a:prstGeom>
          <a:solidFill>
            <a:srgbClr val="0E0E0E"/>
          </a:solidFill>
          <a:ln/>
        </p:spPr>
      </p:sp>
      <p:sp>
        <p:nvSpPr>
          <p:cNvPr id="21" name="Text 16"/>
          <p:cNvSpPr/>
          <p:nvPr/>
        </p:nvSpPr>
        <p:spPr>
          <a:xfrm>
            <a:off x="1097280" y="54864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 </a:t>
            </a: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runs brand &amp; influencer outreach and closes the deals — automating work that was slow and expensive to do by hand.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MARKET OPPORTUNITY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9AA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large, fast-growing wedge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Top-down and bottom-up both point to a multi-billion-dollar opportunity by 2030.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3352800" cy="3337560"/>
          </a:xfrm>
          <a:prstGeom prst="roundRect">
            <a:avLst>
              <a:gd name="adj" fmla="val 2192"/>
            </a:avLst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971800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9AA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347472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~$540B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51560" y="416052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2030 · from $359B in 2025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45720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572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A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8.5%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5120640"/>
            <a:ext cx="262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+ Europe fashion e-commerce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04360" y="2697480"/>
            <a:ext cx="3352800" cy="3337560"/>
          </a:xfrm>
          <a:prstGeom prst="roundRect">
            <a:avLst>
              <a:gd name="adj" fmla="val 2192"/>
            </a:avLst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0120" y="2971800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70120" y="347472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~$72–110B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70120" y="416052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2030 · from $36–54B in 2025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70120" y="45720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17" name="Text 15"/>
          <p:cNvSpPr/>
          <p:nvPr/>
        </p:nvSpPr>
        <p:spPr>
          <a:xfrm>
            <a:off x="4770120" y="4572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15%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70120" y="5120640"/>
            <a:ext cx="262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Creator-native fashion · 10–15% of TAM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22920" y="2697480"/>
            <a:ext cx="3352800" cy="3337560"/>
          </a:xfrm>
          <a:prstGeom prst="roundRect">
            <a:avLst>
              <a:gd name="adj" fmla="val 2192"/>
            </a:avLst>
          </a:prstGeom>
          <a:solidFill>
            <a:srgbClr val="1C1C1C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8680" y="2971800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9AA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488680" y="3474720"/>
            <a:ext cx="262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~$900M–4B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488680" y="4160520"/>
            <a:ext cx="262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2030 · from $360M–1.6B in 2025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88680" y="45720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A2A2A"/>
          </a:solidFill>
          <a:ln/>
        </p:spPr>
      </p:sp>
      <p:sp>
        <p:nvSpPr>
          <p:cNvPr id="24" name="Text 22"/>
          <p:cNvSpPr/>
          <p:nvPr/>
        </p:nvSpPr>
        <p:spPr>
          <a:xfrm>
            <a:off x="8488680" y="4572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AA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20%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88680" y="5120640"/>
            <a:ext cx="262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Emerging-brand pre-order &amp; ambassador · 1–3% of SAM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5800" y="6263640"/>
            <a:ext cx="10789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ECDB · </a:t>
            </a:r>
            <a:r>
              <a:rPr lang="en-US" sz="11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Mordor Intelligence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1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eMarketer US social commerce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</a:t>
            </a:r>
            <a:r>
              <a:rPr lang="en-US" sz="11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/>
              </a:rPr>
              <a:t>ResearchAndMarkets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TF derivation &amp; bottom-up model (10–15% of TAM; 1–3% of SAM). </a:t>
            </a:r>
            <a:r>
              <a:rPr lang="en-US" sz="11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/>
              </a:rPr>
              <a:t>Scale refs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W&amp;B $95M GMV · Kickstarter $706M · BackerKit $3.7B.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MARKET OPPORTUNITY - COMPETITION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 networks serve in-stock</a:t>
            </a:r>
            <a:endParaRPr lang="en-US" sz="38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brands. We're built for drops.</a:t>
            </a:r>
            <a:endParaRPr lang="en-US" sz="3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468880"/>
          <a:ext cx="10789920" cy="32308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LTK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ShopMy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Terra Ferra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48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 for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Brands + 5K+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follower creators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Brands + creators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(open)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F48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Emerging brands +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F48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nano/micro influencers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Inventory needed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in-stock only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 — in-stock only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F48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— pre-order drops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virtual try-on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F48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Influencer commission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~3–14%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~10–30%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F48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10–20% per drop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E0E0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to brands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Affiliate-only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~$999/mo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3F48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$500/mo · ½ of ShopMy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cs typeface="Arial" pitchFamily="34" charset="-120"/>
              </a:rPr>
              <a:t>06. BUSINESS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$10K / month from a tiny seed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1925103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5–10 brands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2382303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$500/mo  =  $2.5–5K platform fees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3068103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20–100 influencers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799" y="3525303"/>
            <a:ext cx="68290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~$50–75K GMV/mo  ×  10%  =  $5–7.5K platform commission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4211103"/>
            <a:ext cx="6675120" cy="0"/>
          </a:xfrm>
          <a:prstGeom prst="line">
            <a:avLst/>
          </a:prstGeom>
          <a:noFill/>
          <a:ln w="19050">
            <a:solidFill>
              <a:srgbClr val="DBDB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348263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$10K / month</a:t>
            </a:r>
            <a:r>
              <a:rPr lang="en-US" sz="30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recurring — at small scale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7772400" y="1798981"/>
            <a:ext cx="3703320" cy="4128855"/>
          </a:xfrm>
          <a:prstGeom prst="roundRect">
            <a:avLst>
              <a:gd name="adj" fmla="val 1975"/>
            </a:avLst>
          </a:prstGeom>
          <a:solidFill>
            <a:srgbClr val="0E0E0E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211902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OF INCOME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38160" y="262194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 / mo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38160" y="307914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9B9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platform fee · $250 founding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38160" y="353634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138160" y="399354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9B9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on every drop's GMV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38160" y="445074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38160" y="490794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B9B9B9"/>
                </a:solidFill>
                <a:latin typeface="Arial" pitchFamily="34" charset="0"/>
                <a:cs typeface="Arial" pitchFamily="34" charset="-120"/>
              </a:rPr>
              <a:t>No inventory and no big marketing budget — influencers bring the audience, brands pre-order, we never hold stock.</a:t>
            </a:r>
          </a:p>
        </p:txBody>
      </p:sp>
      <p:sp>
        <p:nvSpPr>
          <p:cNvPr id="19" name="Text 17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GO-TO-MARKET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– Activate - Compound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three-sided marketplace can't launch sequentially. We seed audience-rich designers who bring their influencers and buyers with them — then the share loop and an AI sourcing agent compound it at near-zero CAC.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383280" cy="2788920"/>
          </a:xfrm>
          <a:prstGeom prst="roundRect">
            <a:avLst>
              <a:gd name="adj" fmla="val 3279"/>
            </a:avLst>
          </a:prstGeom>
          <a:solidFill>
            <a:srgbClr val="F4F4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916936"/>
            <a:ext cx="566928" cy="566928"/>
          </a:xfrm>
          <a:prstGeom prst="ellipse">
            <a:avLst/>
          </a:prstGeom>
          <a:solidFill>
            <a:srgbClr val="EE6B1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916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363016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2688" y="4087368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COHORT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32688" y="4453128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5–10 emerging designers who already run informal pre-orders or drop model  and bring their own audience. 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606040"/>
            <a:ext cx="3383280" cy="2788920"/>
          </a:xfrm>
          <a:prstGeom prst="roundRect">
            <a:avLst>
              <a:gd name="adj" fmla="val 3279"/>
            </a:avLst>
          </a:prstGeom>
          <a:solidFill>
            <a:srgbClr val="F4F4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2916936"/>
            <a:ext cx="566928" cy="566928"/>
          </a:xfrm>
          <a:prstGeom prst="ellipse">
            <a:avLst/>
          </a:prstGeom>
          <a:solidFill>
            <a:srgbClr val="EE6B1F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2916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81728" y="363016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4681728" y="4087368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CONCIERGE DROPS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81728" y="4453128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drops run white-glove to produce hard proof — real GMV, pre-orders and sell-through. These MVP recruits the next cohort.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38160" y="2606040"/>
            <a:ext cx="3383280" cy="2788920"/>
          </a:xfrm>
          <a:prstGeom prst="roundRect">
            <a:avLst>
              <a:gd name="adj" fmla="val 3279"/>
            </a:avLst>
          </a:prstGeom>
          <a:solidFill>
            <a:srgbClr val="F4F4F4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30768" y="2916936"/>
            <a:ext cx="566928" cy="566928"/>
          </a:xfrm>
          <a:prstGeom prst="ellipse">
            <a:avLst/>
          </a:prstGeom>
          <a:solidFill>
            <a:srgbClr val="EE6B1F"/>
          </a:solidFill>
          <a:ln/>
        </p:spPr>
      </p:sp>
      <p:sp>
        <p:nvSpPr>
          <p:cNvPr id="19" name="Text 17"/>
          <p:cNvSpPr/>
          <p:nvPr/>
        </p:nvSpPr>
        <p:spPr>
          <a:xfrm>
            <a:off x="8430768" y="29169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30768" y="3630168"/>
            <a:ext cx="2798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430768" y="4087368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LOOP + AI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30768" y="4453128"/>
            <a:ext cx="27980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shared try-on pulls in new consumers, influencers and brands. An AI agent automates brand &amp; influencer sourcing and outreach — scaling supply at near-zero CAC.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32504" y="36804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781544" y="36804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40080" y="571500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4F4F4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5715000"/>
            <a:ext cx="10296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kern="0" spc="15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   </a:t>
            </a: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network intros · AI influencer sourcing · organic share loop. · </a:t>
            </a:r>
            <a:r>
              <a:rPr lang="en-US" sz="13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No paid acquisition.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FUTURE VISION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focused drop model</a:t>
            </a:r>
            <a:endParaRPr lang="en-US" sz="38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creative fashion platform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697480"/>
            <a:ext cx="3291840" cy="3657600"/>
          </a:xfrm>
          <a:prstGeom prst="roundRect">
            <a:avLst>
              <a:gd name="adj" fmla="val 2222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3063240"/>
            <a:ext cx="868680" cy="868680"/>
          </a:xfrm>
          <a:prstGeom prst="ellipse">
            <a:avLst/>
          </a:prstGeom>
          <a:solidFill>
            <a:srgbClr val="EE6B1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063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834640" y="3108960"/>
            <a:ext cx="868680" cy="411480"/>
          </a:xfrm>
          <a:prstGeom prst="roundRect">
            <a:avLst>
              <a:gd name="adj" fmla="val 48889"/>
            </a:avLst>
          </a:prstGeom>
          <a:solidFill>
            <a:srgbClr val="EE6B1F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31089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niche model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51560" y="4983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Pre-order drops for emerging designers — the focused wedge we launch with.</a:t>
            </a:r>
          </a:p>
        </p:txBody>
      </p:sp>
      <p:sp>
        <p:nvSpPr>
          <p:cNvPr id="12" name="Shape 10"/>
          <p:cNvSpPr/>
          <p:nvPr/>
        </p:nvSpPr>
        <p:spPr>
          <a:xfrm>
            <a:off x="4434840" y="2697480"/>
            <a:ext cx="3291840" cy="3657600"/>
          </a:xfrm>
          <a:prstGeom prst="roundRect">
            <a:avLst>
              <a:gd name="adj" fmla="val 2222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3063240"/>
            <a:ext cx="868680" cy="868680"/>
          </a:xfrm>
          <a:prstGeom prst="ellipse">
            <a:avLst/>
          </a:prstGeom>
          <a:solidFill>
            <a:srgbClr val="3F4897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3063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80060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Co-creation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800600" y="4983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Brand × influencer collaborations and co-created drops.</a:t>
            </a:r>
          </a:p>
        </p:txBody>
      </p:sp>
      <p:sp>
        <p:nvSpPr>
          <p:cNvPr id="18" name="Shape 16"/>
          <p:cNvSpPr/>
          <p:nvPr/>
        </p:nvSpPr>
        <p:spPr>
          <a:xfrm>
            <a:off x="8183880" y="2697480"/>
            <a:ext cx="3291840" cy="3657600"/>
          </a:xfrm>
          <a:prstGeom prst="roundRect">
            <a:avLst>
              <a:gd name="adj" fmla="val 2222"/>
            </a:avLst>
          </a:prstGeom>
          <a:solidFill>
            <a:srgbClr val="F4F4F4"/>
          </a:solidFill>
          <a:ln/>
          <a:effectLst>
            <a:outerShdw blurRad="1143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549640" y="3063240"/>
            <a:ext cx="868680" cy="868680"/>
          </a:xfrm>
          <a:prstGeom prst="ellipse">
            <a:avLst/>
          </a:prstGeom>
          <a:solidFill>
            <a:srgbClr val="0E0E0E"/>
          </a:solidFill>
          <a:ln/>
        </p:spPr>
      </p:sp>
      <p:sp>
        <p:nvSpPr>
          <p:cNvPr id="20" name="Text 18"/>
          <p:cNvSpPr/>
          <p:nvPr/>
        </p:nvSpPr>
        <p:spPr>
          <a:xfrm>
            <a:off x="8549640" y="3063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8549640" y="4114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49640" y="4434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platform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549640" y="49834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Crowdfunding new collections &amp; new designers · fashion × psychology · gamification · creative modules.</a:t>
            </a:r>
          </a:p>
        </p:txBody>
      </p:sp>
      <p:sp>
        <p:nvSpPr>
          <p:cNvPr id="24" name="Text 22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09.TEAM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Operators who've built retail</a:t>
            </a:r>
            <a:endParaRPr lang="en-US" sz="38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creator economy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2514600"/>
            <a:ext cx="2457450" cy="3703320"/>
          </a:xfrm>
          <a:prstGeom prst="roundRect">
            <a:avLst>
              <a:gd name="adj" fmla="val 2605"/>
            </a:avLst>
          </a:prstGeom>
          <a:solidFill>
            <a:srgbClr val="F4F4F4"/>
          </a:solidFill>
          <a:ln/>
        </p:spPr>
      </p:sp>
      <p:pic>
        <p:nvPicPr>
          <p:cNvPr id="5" name="Image 0" descr="/tmp/tf/icons/olg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605" y="2743200"/>
            <a:ext cx="1005840" cy="10058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392" y="3886200"/>
            <a:ext cx="21282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Olga Bressers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50392" y="4416552"/>
            <a:ext cx="21282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&amp; CO-FOUNDER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800600"/>
            <a:ext cx="200025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20+ years e-commerce &amp; operations at Richemont, Adidas, Nike, IBM. Ran a €150M P&amp;L.</a:t>
            </a:r>
          </a:p>
        </p:txBody>
      </p:sp>
      <p:sp>
        <p:nvSpPr>
          <p:cNvPr id="9" name="Shape 6"/>
          <p:cNvSpPr/>
          <p:nvPr/>
        </p:nvSpPr>
        <p:spPr>
          <a:xfrm>
            <a:off x="3463290" y="2514600"/>
            <a:ext cx="2457450" cy="3703320"/>
          </a:xfrm>
          <a:prstGeom prst="roundRect">
            <a:avLst>
              <a:gd name="adj" fmla="val 2605"/>
            </a:avLst>
          </a:prstGeom>
          <a:solidFill>
            <a:srgbClr val="F4F4F4"/>
          </a:solidFill>
          <a:ln/>
        </p:spPr>
      </p:sp>
      <p:pic>
        <p:nvPicPr>
          <p:cNvPr id="10" name="Image Khrushchev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095" y="2743200"/>
            <a:ext cx="1005840" cy="1005840"/>
          </a:xfrm>
          <a:prstGeom prst="ellipse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27882" y="3886200"/>
            <a:ext cx="21282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Khrushchev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3627882" y="4416552"/>
            <a:ext cx="21282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kern="0" spc="100" dirty="0">
                <a:solidFill>
                  <a:srgbClr val="EE6B1F"/>
                </a:solidFill>
                <a:latin typeface="Arial" pitchFamily="34" charset="0"/>
                <a:cs typeface="Arial" pitchFamily="34" charset="-120"/>
              </a:rPr>
              <a:t>CTO &amp; CO-FOUNDER</a:t>
            </a:r>
          </a:p>
        </p:txBody>
      </p:sp>
      <p:sp>
        <p:nvSpPr>
          <p:cNvPr id="14" name="Text 11"/>
          <p:cNvSpPr/>
          <p:nvPr/>
        </p:nvSpPr>
        <p:spPr>
          <a:xfrm>
            <a:off x="3691890" y="4800600"/>
            <a:ext cx="200025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Founder of MVP Lab — 100+ MVPs built 0→1. Ex-Aviasales / </a:t>
            </a:r>
            <a:r>
              <a:rPr lang="en-US" sz="1400" dirty="0" err="1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Jetradar</a:t>
            </a: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.</a:t>
            </a:r>
          </a:p>
        </p:txBody>
      </p:sp>
      <p:sp>
        <p:nvSpPr>
          <p:cNvPr id="15" name="Shape 12"/>
          <p:cNvSpPr/>
          <p:nvPr/>
        </p:nvSpPr>
        <p:spPr>
          <a:xfrm>
            <a:off x="6240780" y="2514600"/>
            <a:ext cx="2457450" cy="3703320"/>
          </a:xfrm>
          <a:prstGeom prst="roundRect">
            <a:avLst>
              <a:gd name="adj" fmla="val 2605"/>
            </a:avLst>
          </a:prstGeom>
          <a:solidFill>
            <a:srgbClr val="F4F4F4"/>
          </a:solidFill>
          <a:ln/>
        </p:spPr>
      </p:sp>
      <p:pic>
        <p:nvPicPr>
          <p:cNvPr id="16" name="Image 1" descr="/tmp/tf/icons/max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6585" y="2743200"/>
            <a:ext cx="1005840" cy="1005840"/>
          </a:xfrm>
          <a:prstGeom prst="ellipse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5372" y="3886200"/>
            <a:ext cx="21282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 Nogotkov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6405372" y="4416552"/>
            <a:ext cx="21282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400" b="1" kern="0" spc="100" dirty="0">
                <a:solidFill>
                  <a:srgbClr val="EE6B1F"/>
                </a:solidFill>
                <a:latin typeface="Arial" pitchFamily="34" charset="0"/>
                <a:cs typeface="Arial" pitchFamily="34" charset="-120"/>
              </a:rPr>
              <a:t>CO-FOUNDER</a:t>
            </a:r>
          </a:p>
        </p:txBody>
      </p:sp>
      <p:sp>
        <p:nvSpPr>
          <p:cNvPr id="19" name="Text 15"/>
          <p:cNvSpPr/>
          <p:nvPr/>
        </p:nvSpPr>
        <p:spPr>
          <a:xfrm>
            <a:off x="6469380" y="4800600"/>
            <a:ext cx="200025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Built Svyaznoy (3,300+ stores) &amp; Pandora Russia (0→200+ stores, ~$80M EBITDA). Forbes Russia.</a:t>
            </a:r>
          </a:p>
        </p:txBody>
      </p:sp>
      <p:sp>
        <p:nvSpPr>
          <p:cNvPr id="20" name="Shape 16"/>
          <p:cNvSpPr/>
          <p:nvPr/>
        </p:nvSpPr>
        <p:spPr>
          <a:xfrm>
            <a:off x="9018270" y="2514600"/>
            <a:ext cx="2457450" cy="3703320"/>
          </a:xfrm>
          <a:prstGeom prst="roundRect">
            <a:avLst>
              <a:gd name="adj" fmla="val 2605"/>
            </a:avLst>
          </a:prstGeom>
          <a:solidFill>
            <a:srgbClr val="F4F4F4"/>
          </a:solidFill>
          <a:ln/>
        </p:spPr>
      </p:sp>
      <p:pic>
        <p:nvPicPr>
          <p:cNvPr id="21" name="Image 2" descr="/tmp/tf/icons/alex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4075" y="2743200"/>
            <a:ext cx="1005840" cy="1005840"/>
          </a:xfrm>
          <a:prstGeom prst="ellipse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182862" y="3886200"/>
            <a:ext cx="212826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0E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Hofmann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9182862" y="4416552"/>
            <a:ext cx="212826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3F48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246870" y="4800600"/>
            <a:ext cx="200025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444444"/>
                </a:solidFill>
                <a:latin typeface="Arial" pitchFamily="34" charset="0"/>
                <a:cs typeface="Arial" pitchFamily="34" charset="-120"/>
              </a:rPr>
              <a:t>Former President of musical.ly (later TikTok).</a:t>
            </a:r>
          </a:p>
        </p:txBody>
      </p:sp>
      <p:sp>
        <p:nvSpPr>
          <p:cNvPr id="25" name="Text 20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</a:t>
            </a:r>
            <a:r>
              <a:rPr lang="en-US" sz="1600" b="1" kern="0" spc="300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REQUEST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9AA2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 $500K pre-seed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257800" y="28346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85800" y="3200400"/>
            <a:ext cx="4206240" cy="14630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3200400"/>
            <a:ext cx="1766621" cy="146304"/>
          </a:xfrm>
          <a:prstGeom prst="rect">
            <a:avLst/>
          </a:prstGeom>
          <a:solidFill>
            <a:srgbClr val="EE6B1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burn rate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257800" y="36118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85800" y="3977640"/>
            <a:ext cx="4206240" cy="14630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3977640"/>
            <a:ext cx="1261872" cy="146304"/>
          </a:xfrm>
          <a:prstGeom prst="rect">
            <a:avLst/>
          </a:prstGeom>
          <a:solidFill>
            <a:srgbClr val="EE6B1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development &amp; marketing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257800" y="4389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85800" y="4754880"/>
            <a:ext cx="4206240" cy="14630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4754880"/>
            <a:ext cx="799186" cy="146304"/>
          </a:xfrm>
          <a:prstGeom prst="rect">
            <a:avLst/>
          </a:prstGeom>
          <a:solidFill>
            <a:srgbClr val="EE6B1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166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technology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257800" y="5166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EE6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85800" y="5532120"/>
            <a:ext cx="4206240" cy="146304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5532120"/>
            <a:ext cx="378562" cy="146304"/>
          </a:xfrm>
          <a:prstGeom prst="rect">
            <a:avLst/>
          </a:prstGeom>
          <a:solidFill>
            <a:srgbClr val="EE6B1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GETS US — 12 MONTHS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66560" y="2926080"/>
            <a:ext cx="146304" cy="146304"/>
          </a:xfrm>
          <a:prstGeom prst="ellipse">
            <a:avLst/>
          </a:prstGeom>
          <a:solidFill>
            <a:srgbClr val="9AA2E0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279806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relaunched globally on modern AI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766560" y="3584448"/>
            <a:ext cx="146304" cy="146304"/>
          </a:xfrm>
          <a:prstGeom prst="ellipse">
            <a:avLst/>
          </a:prstGeom>
          <a:solidFill>
            <a:srgbClr val="9AA2E0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345643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brands live with real drops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766560" y="4242816"/>
            <a:ext cx="146304" cy="146304"/>
          </a:xfrm>
          <a:prstGeom prst="ellipse">
            <a:avLst/>
          </a:prstGeom>
          <a:solidFill>
            <a:srgbClr val="9AA2E0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Micro-influencers earning on every drop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766560" y="4901184"/>
            <a:ext cx="146304" cy="146304"/>
          </a:xfrm>
          <a:prstGeom prst="ellipse">
            <a:avLst/>
          </a:prstGeom>
          <a:solidFill>
            <a:srgbClr val="9AA2E0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477316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repeatable, on-platform GMV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· for 5 years of capitalization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3000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"/>
          <p:cNvSpPr/>
          <p:nvPr/>
        </p:nvSpPr>
        <p:spPr>
          <a:xfrm>
            <a:off x="685800" y="2895600"/>
            <a:ext cx="10820400" cy="1066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5400" b="1" dirty="0">
                <a:solidFill>
                  <a:srgbClr val="EE6B1F"/>
                </a:solidFill>
                <a:latin typeface="Arial" pitchFamily="34" charset="0"/>
                <a:cs typeface="Arial" pitchFamily="34" charset="0"/>
              </a:rPr>
              <a:t>That’s about it. 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1412</Words>
  <Application>Microsoft Macintosh PowerPoint</Application>
  <PresentationFormat>Widescreen</PresentationFormat>
  <Paragraphs>246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 Ferra — Investor Deck</dc:title>
  <dc:subject>PptxGenJS Presentation</dc:subject>
  <dc:creator>Terra Ferra</dc:creator>
  <cp:lastModifiedBy>Sophia Bressers</cp:lastModifiedBy>
  <cp:revision>15</cp:revision>
  <dcterms:created xsi:type="dcterms:W3CDTF">2026-06-24T13:48:05Z</dcterms:created>
  <dcterms:modified xsi:type="dcterms:W3CDTF">2026-06-24T16:50:14Z</dcterms:modified>
</cp:coreProperties>
</file>