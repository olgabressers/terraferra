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7"/>
    <p:restoredTop sz="96281"/>
  </p:normalViewPr>
  <p:slideViewPr>
    <p:cSldViewPr snapToGrid="0" snapToObjects="1">
      <p:cViewPr varScale="1">
        <p:scale>
          <a:sx n="118" d="100"/>
          <a:sy n="118" d="100"/>
        </p:scale>
        <p:origin x="224" y="3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11277295" cy="614476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AE4A2E"/>
                </a:solidFill>
                <a:latin typeface="Calibri"/>
              </a:rPr>
              <a:t>TERRA FERRA · INVESTOR PITCH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331720"/>
            <a:ext cx="1060704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5400" b="0" i="0">
                <a:solidFill>
                  <a:srgbClr val="1A1A1A"/>
                </a:solidFill>
                <a:latin typeface="Cambria"/>
              </a:rPr>
              <a:t>2026 Timing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5400" b="0" i="0">
                <a:solidFill>
                  <a:srgbClr val="1A1A1A"/>
                </a:solidFill>
                <a:latin typeface="Cambria"/>
              </a:rPr>
              <a:t>characteristics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434840"/>
            <a:ext cx="6949440" cy="566928"/>
          </a:xfrm>
          <a:prstGeom prst="roundRect">
            <a:avLst>
              <a:gd name="adj" fmla="val 16000"/>
            </a:avLst>
          </a:prstGeom>
          <a:solidFill>
            <a:srgbClr val="AE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4579804"/>
            <a:ext cx="694944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800" b="1" i="0" dirty="0">
                <a:solidFill>
                  <a:srgbClr val="FFFFFF"/>
                </a:solidFill>
                <a:latin typeface="Calibri"/>
              </a:rPr>
              <a:t>Based on </a:t>
            </a:r>
            <a:r>
              <a:rPr lang="en-GB" b="1" dirty="0">
                <a:solidFill>
                  <a:srgbClr val="FFFFFF"/>
                </a:solidFill>
                <a:latin typeface="Calibri"/>
              </a:rPr>
              <a:t>ZI Wei Dou Shu </a:t>
            </a:r>
            <a:r>
              <a:rPr lang="en-GB" b="1" dirty="0" err="1">
                <a:solidFill>
                  <a:srgbClr val="FFFFFF"/>
                </a:solidFill>
                <a:latin typeface="Calibri"/>
              </a:rPr>
              <a:t>Algorythm</a:t>
            </a:r>
            <a:endParaRPr sz="18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094415" y="6382512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3373B"/>
                </a:solidFill>
                <a:latin typeface="Calibr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11277295" cy="614476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420624"/>
            <a:ext cx="109728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E4A2E"/>
                </a:solidFill>
                <a:latin typeface="Calibri"/>
              </a:rPr>
              <a:t>2026 TIMING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76656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1A1A1A"/>
                </a:solidFill>
                <a:latin typeface="Cambria"/>
              </a:rPr>
              <a:t>Strongest deal windows of 2026 (chronological)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68680" y="1783080"/>
          <a:ext cx="10454335" cy="402336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823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Tier</a:t>
                      </a:r>
                    </a:p>
                  </a:txBody>
                  <a:tcPr marL="109728" marR="109728" marT="36576" marB="36576" anchor="ctr">
                    <a:solidFill>
                      <a:srgbClr val="AE4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Window</a:t>
                      </a:r>
                    </a:p>
                  </a:txBody>
                  <a:tcPr marL="109728" marR="109728" marT="36576" marB="36576" anchor="ctr">
                    <a:solidFill>
                      <a:srgbClr val="AE4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Capital outcome</a:t>
                      </a:r>
                    </a:p>
                  </a:txBody>
                  <a:tcPr marL="109728" marR="109728" marT="36576" marB="36576" anchor="ctr">
                    <a:solidFill>
                      <a:srgbClr val="AE4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D97A2B"/>
                          </a:solidFill>
                          <a:latin typeface="Calibri"/>
                        </a:rPr>
                        <a:t>★★★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AE4A2E"/>
                          </a:solidFill>
                          <a:latin typeface="Calibri"/>
                        </a:rPr>
                        <a:t>M5 (Jun 15 — Jul 13)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Peak cash window of 2026 for Alena — fast investor conversions possible if Maxim and Alena begin outreach immediately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D97A2B"/>
                          </a:solidFill>
                          <a:latin typeface="Calibri"/>
                        </a:rPr>
                        <a:t>★★★</a:t>
                      </a:r>
                    </a:p>
                  </a:txBody>
                  <a:tcPr marL="109728" marR="109728" marT="36576" marB="36576" anchor="ctr"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AE4A2E"/>
                          </a:solidFill>
                          <a:latin typeface="Calibri"/>
                        </a:rPr>
                        <a:t>M6 (Jul 14 — Aug 12)</a:t>
                      </a:r>
                    </a:p>
                  </a:txBody>
                  <a:tcPr marL="109728" marR="109728" marT="36576" marB="36576" anchor="ctr"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Maxim's senior network produces investor introductions for both founders</a:t>
                      </a:r>
                    </a:p>
                  </a:txBody>
                  <a:tcPr marL="109728" marR="109728" marT="36576" marB="36576" anchor="ctr">
                    <a:solidFill>
                      <a:srgbClr val="FBF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D97A2B"/>
                          </a:solidFill>
                          <a:latin typeface="Calibri"/>
                        </a:rPr>
                        <a:t>★★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AE4A2E"/>
                          </a:solidFill>
                          <a:latin typeface="Calibri"/>
                        </a:rPr>
                        <a:t>M7 (Aug 13 — Sep 10)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Maxim and Alena run first investor meetings in parallel — pipeline expansion only, no signing this month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D97A2B"/>
                          </a:solidFill>
                          <a:latin typeface="Calibri"/>
                        </a:rPr>
                        <a:t>★★</a:t>
                      </a:r>
                    </a:p>
                  </a:txBody>
                  <a:tcPr marL="109728" marR="109728" marT="36576" marB="36576" anchor="ctr"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AE4A2E"/>
                          </a:solidFill>
                          <a:latin typeface="Calibri"/>
                        </a:rPr>
                        <a:t>M9 (Oct 10 — Nov 8)</a:t>
                      </a:r>
                    </a:p>
                  </a:txBody>
                  <a:tcPr marL="109728" marR="109728" marT="36576" marB="36576" anchor="ctr"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Alena closes equity and new-venture deals from the M7 meeting pipeline</a:t>
                      </a:r>
                    </a:p>
                  </a:txBody>
                  <a:tcPr marL="109728" marR="109728" marT="36576" marB="36576" anchor="ctr">
                    <a:solidFill>
                      <a:srgbClr val="FBF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D97A2B"/>
                          </a:solidFill>
                          <a:latin typeface="Calibri"/>
                        </a:rPr>
                        <a:t>★★★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AE4A2E"/>
                          </a:solidFill>
                          <a:latin typeface="Calibri"/>
                        </a:rPr>
                        <a:t>M10 (Nov 9 — Dec 6)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Strongest single month of 2026 for Alena — she closes multiple investor commitments in parallel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D97A2B"/>
                          </a:solidFill>
                          <a:latin typeface="Calibri"/>
                        </a:rPr>
                        <a:t>★★</a:t>
                      </a:r>
                    </a:p>
                  </a:txBody>
                  <a:tcPr marL="109728" marR="109728" marT="36576" marB="36576" anchor="ctr"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AE4A2E"/>
                          </a:solidFill>
                          <a:latin typeface="Calibri"/>
                        </a:rPr>
                        <a:t>M11 (Dec 7 — Jan 5, 2027)</a:t>
                      </a:r>
                    </a:p>
                  </a:txBody>
                  <a:tcPr marL="109728" marR="109728" marT="36576" marB="36576" anchor="ctr"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Maxim secures commitments from younger angel investors who recently sold their own tech startups</a:t>
                      </a:r>
                    </a:p>
                  </a:txBody>
                  <a:tcPr marL="109728" marR="109728" marT="36576" marB="36576" anchor="ctr">
                    <a:solidFill>
                      <a:srgbClr val="FBF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094415" y="6382512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3373B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11277295" cy="614476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420624"/>
            <a:ext cx="109728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E4A2E"/>
                </a:solidFill>
                <a:latin typeface="Calibri"/>
              </a:rPr>
              <a:t>2026 TIMING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76656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1A1A1A"/>
                </a:solidFill>
                <a:latin typeface="Cambria"/>
              </a:rPr>
              <a:t>2026 Timing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17320"/>
          <a:ext cx="10911535" cy="4892032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251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Month</a:t>
                      </a:r>
                    </a:p>
                  </a:txBody>
                  <a:tcPr marL="109728" marR="109728" marT="36576" marB="36576" anchor="ctr">
                    <a:solidFill>
                      <a:srgbClr val="AE4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Dates</a:t>
                      </a:r>
                    </a:p>
                  </a:txBody>
                  <a:tcPr marL="109728" marR="109728" marT="36576" marB="36576" anchor="ctr">
                    <a:solidFill>
                      <a:srgbClr val="AE4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Strongest channel firing</a:t>
                      </a:r>
                    </a:p>
                  </a:txBody>
                  <a:tcPr marL="109728" marR="109728" marT="36576" marB="36576" anchor="ctr">
                    <a:solidFill>
                      <a:srgbClr val="AE4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Best use of window</a:t>
                      </a:r>
                    </a:p>
                  </a:txBody>
                  <a:tcPr marL="109728" marR="109728" marT="36576" marB="36576" anchor="ctr">
                    <a:solidFill>
                      <a:srgbClr val="AE4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4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AE4A2E"/>
                          </a:solidFill>
                          <a:latin typeface="Cambria"/>
                        </a:rPr>
                        <a:t>M5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73B"/>
                          </a:solidFill>
                          <a:latin typeface="Calibri"/>
                        </a:rPr>
                        <a:t>Jun 15 — Jul 13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73B"/>
                          </a:solidFill>
                          <a:latin typeface="Calibri"/>
                        </a:rPr>
                        <a:t>Alena: wealth-axis cash compression peak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Capital that is already in conversation locks in this window. Move active investor discussions to signed terms and cash commitments.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4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AE4A2E"/>
                          </a:solidFill>
                          <a:latin typeface="Cambria"/>
                        </a:rPr>
                        <a:t>M6</a:t>
                      </a:r>
                    </a:p>
                  </a:txBody>
                  <a:tcPr marL="109728" marR="109728" marT="36576" marB="36576" anchor="ctr"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73B"/>
                          </a:solidFill>
                          <a:latin typeface="Calibri"/>
                        </a:rPr>
                        <a:t>Jul 14 — Aug 12</a:t>
                      </a:r>
                    </a:p>
                  </a:txBody>
                  <a:tcPr marL="109728" marR="109728" marT="36576" marB="36576" anchor="ctr"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73B"/>
                          </a:solidFill>
                          <a:latin typeface="Calibri"/>
                        </a:rPr>
                        <a:t>Maxim: strongest decade sub-window for senior-network authority</a:t>
                      </a:r>
                    </a:p>
                  </a:txBody>
                  <a:tcPr marL="109728" marR="109728" marT="36576" marB="36576" anchor="ctr"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Maxim reaches out to peer founders, senior ex-colleagues, and respected contacts to source warm introductions and schedule August–September investor meetings.</a:t>
                      </a:r>
                    </a:p>
                  </a:txBody>
                  <a:tcPr marL="109728" marR="109728" marT="36576" marB="36576" anchor="ctr">
                    <a:solidFill>
                      <a:srgbClr val="FBF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4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AE4A2E"/>
                          </a:solidFill>
                          <a:latin typeface="Cambria"/>
                        </a:rPr>
                        <a:t>M7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73B"/>
                          </a:solidFill>
                          <a:latin typeface="Calibri"/>
                        </a:rPr>
                        <a:t>Aug 13 — Sep 10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73B"/>
                          </a:solidFill>
                          <a:latin typeface="Calibri"/>
                        </a:rPr>
                        <a:t>Both: joint network peak — three layers aligned on P8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First-meeting volume peaks. Alena leads direct meetings with the strategist-investor prospects she reached via outbound. Maxim joins the warm-introduced meetings as credibility presence. No investment terms signed in this window — meetings only.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4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AE4A2E"/>
                          </a:solidFill>
                          <a:latin typeface="Cambria"/>
                        </a:rPr>
                        <a:t>M8</a:t>
                      </a:r>
                    </a:p>
                  </a:txBody>
                  <a:tcPr marL="109728" marR="109728" marT="36576" marB="36576" anchor="ctr"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73B"/>
                          </a:solidFill>
                          <a:latin typeface="Calibri"/>
                        </a:rPr>
                        <a:t>Sep 11 — Oct 9</a:t>
                      </a:r>
                    </a:p>
                  </a:txBody>
                  <a:tcPr marL="109728" marR="109728" marT="36576" marB="36576" anchor="ctr"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73B"/>
                          </a:solidFill>
                          <a:latin typeface="Calibri"/>
                        </a:rPr>
                        <a:t>Alena: cold-expert recognition boost; warm verbal blocked</a:t>
                      </a:r>
                    </a:p>
                  </a:txBody>
                  <a:tcPr marL="109728" marR="109728" marT="36576" marB="36576" anchor="ctr"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Written communication converts. Send detailed investor memos, one-pagers, and data rooms as follow-ups to M7 contacts. Pause warm phone outreach.</a:t>
                      </a:r>
                    </a:p>
                  </a:txBody>
                  <a:tcPr marL="109728" marR="109728" marT="36576" marB="36576" anchor="ctr">
                    <a:solidFill>
                      <a:srgbClr val="FBF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4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AE4A2E"/>
                          </a:solidFill>
                          <a:latin typeface="Cambria"/>
                        </a:rPr>
                        <a:t>M9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73B"/>
                          </a:solidFill>
                          <a:latin typeface="Calibri"/>
                        </a:rPr>
                        <a:t>Oct 10 — Nov 8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73B"/>
                          </a:solidFill>
                          <a:latin typeface="Calibri"/>
                        </a:rPr>
                        <a:t>Alena: life-axis restart fires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Best window to sign new-venture, equity-formation, and shareholder agreements from the M7 pipeline.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4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AE4A2E"/>
                          </a:solidFill>
                          <a:latin typeface="Cambria"/>
                        </a:rPr>
                        <a:t>M10</a:t>
                      </a:r>
                    </a:p>
                  </a:txBody>
                  <a:tcPr marL="109728" marR="109728" marT="36576" marB="36576" anchor="ctr"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73B"/>
                          </a:solidFill>
                          <a:latin typeface="Calibri"/>
                        </a:rPr>
                        <a:t>Nov 9 — Dec 6</a:t>
                      </a:r>
                    </a:p>
                  </a:txBody>
                  <a:tcPr marL="109728" marR="109728" marT="36576" marB="36576" anchor="ctr"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73B"/>
                          </a:solidFill>
                          <a:latin typeface="Calibri"/>
                        </a:rPr>
                        <a:t>Alena: all three primary axes activated simultaneously</a:t>
                      </a:r>
                    </a:p>
                  </a:txBody>
                  <a:tcPr marL="109728" marR="109728" marT="36576" marB="36576" anchor="ctr"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Strongest single month of 2026 — multiple parallel closes. Final valuation and terms negotiation across all open conversations.</a:t>
                      </a:r>
                    </a:p>
                  </a:txBody>
                  <a:tcPr marL="109728" marR="109728" marT="36576" marB="36576" anchor="ctr">
                    <a:solidFill>
                      <a:srgbClr val="FBF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4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AE4A2E"/>
                          </a:solidFill>
                          <a:latin typeface="Cambria"/>
                        </a:rPr>
                        <a:t>M11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73B"/>
                          </a:solidFill>
                          <a:latin typeface="Calibri"/>
                        </a:rPr>
                        <a:t>Dec 7 — Jan 5, 2027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73B"/>
                          </a:solidFill>
                          <a:latin typeface="Calibri"/>
                        </a:rPr>
                        <a:t>Maxim: five-source compound on strategic-expert palace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Maxim leads outreach to younger founder-angels (under ~40, recent tech exits) and accelerator partners with younger leadership.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4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AE4A2E"/>
                          </a:solidFill>
                          <a:latin typeface="Cambria"/>
                        </a:rPr>
                        <a:t>M12</a:t>
                      </a:r>
                    </a:p>
                  </a:txBody>
                  <a:tcPr marL="109728" marR="109728" marT="36576" marB="36576" anchor="ctr"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73B"/>
                          </a:solidFill>
                          <a:latin typeface="Calibri"/>
                        </a:rPr>
                        <a:t>Jan 6 — Feb 3, 2027</a:t>
                      </a:r>
                    </a:p>
                  </a:txBody>
                  <a:tcPr marL="109728" marR="109728" marT="36576" marB="36576" anchor="ctr"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73B"/>
                          </a:solidFill>
                          <a:latin typeface="Calibri"/>
                        </a:rPr>
                        <a:t>Quiet</a:t>
                      </a:r>
                    </a:p>
                  </a:txBody>
                  <a:tcPr marL="109728" marR="109728" marT="36576" marB="36576" anchor="ctr"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Q1 2027 setup, rest, prep for next cycle.</a:t>
                      </a:r>
                    </a:p>
                  </a:txBody>
                  <a:tcPr marL="109728" marR="109728" marT="36576" marB="36576" anchor="ctr">
                    <a:solidFill>
                      <a:srgbClr val="FBF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094415" y="6382512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3373B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11277295" cy="614476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420624"/>
            <a:ext cx="109728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E4A2E"/>
                </a:solidFill>
                <a:latin typeface="Calibri"/>
              </a:rPr>
              <a:t>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76656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1A1A1A"/>
                </a:solidFill>
                <a:latin typeface="Cambria"/>
              </a:rPr>
              <a:t>Winning Positioning by Person  ·  1 of 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600200"/>
          <a:ext cx="10820094" cy="4434836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56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756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09728" marR="109728" marT="36576" marB="36576" anchor="ctr">
                    <a:solidFill>
                      <a:srgbClr val="E7DE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mbria"/>
                        </a:rPr>
                        <a:t>ALENA</a:t>
                      </a:r>
                    </a:p>
                  </a:txBody>
                  <a:tcPr marL="109728" marR="109728" marT="36576" marB="36576" anchor="ctr">
                    <a:solidFill>
                      <a:srgbClr val="AE4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mbria"/>
                        </a:rPr>
                        <a:t>MAXIM</a:t>
                      </a:r>
                    </a:p>
                  </a:txBody>
                  <a:tcPr marL="109728" marR="109728" marT="36576" marB="36576" anchor="ctr">
                    <a:solidFill>
                      <a:srgbClr val="3337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83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AE4A2E"/>
                          </a:solidFill>
                          <a:latin typeface="Calibri"/>
                        </a:rPr>
                        <a:t>What her/his chart projects to investors</a:t>
                      </a:r>
                    </a:p>
                  </a:txBody>
                  <a:tcPr marL="109728" marR="109728" marT="36576" marB="36576" anchor="ctr">
                    <a:solidFill>
                      <a:srgbClr val="EFE7D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Strategic authority, category-expert profile, intelligence-led market insight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Proven track record of building and scaling real businesses, senior-network reputation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83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AE4A2E"/>
                          </a:solidFill>
                          <a:latin typeface="Calibri"/>
                        </a:rPr>
                        <a:t>Where capital responds directly</a:t>
                      </a:r>
                    </a:p>
                  </a:txBody>
                  <a:tcPr marL="109728" marR="109728" marT="36576" marB="36576" anchor="ctr">
                    <a:solidFill>
                      <a:srgbClr val="E7DED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Investors who do their own diligence individually (no investment committee)</a:t>
                      </a:r>
                    </a:p>
                  </a:txBody>
                  <a:tcPr marL="109728" marR="109728" marT="36576" marB="36576" anchor="ctr"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Investors reached through a warm-vouching introduction from a respected senior figure — peer founders, ex-colleagues at scale, conference-tier contacts</a:t>
                      </a:r>
                    </a:p>
                  </a:txBody>
                  <a:tcPr marL="109728" marR="109728" marT="36576" marB="36576" anchor="ctr">
                    <a:solidFill>
                      <a:srgbClr val="FBF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83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AE4A2E"/>
                          </a:solidFill>
                          <a:latin typeface="Calibri"/>
                        </a:rPr>
                        <a:t>Where capital does NOT respond</a:t>
                      </a:r>
                    </a:p>
                  </a:txBody>
                  <a:tcPr marL="109728" marR="109728" marT="36576" marB="36576" anchor="ctr">
                    <a:solidFill>
                      <a:srgbClr val="EFE7D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Committee-driven institutional VC processes, anonymous web-form submissions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Cold outbound, institutional gatekeeper processes, formal application channels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583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AE4A2E"/>
                          </a:solidFill>
                          <a:latin typeface="Calibri"/>
                        </a:rPr>
                        <a:t>Winning channel</a:t>
                      </a:r>
                    </a:p>
                  </a:txBody>
                  <a:tcPr marL="109728" marR="109728" marT="36576" marB="36576" anchor="ctr">
                    <a:solidFill>
                      <a:srgbClr val="E7DED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Cold expert deck reading like a strategy brief, sent one-to-one to named individuals</a:t>
                      </a:r>
                    </a:p>
                  </a:txBody>
                  <a:tcPr marL="109728" marR="109728" marT="36576" marB="36576" anchor="ctr"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Senior introducer makes the introduction call: "you need to meet this person"</a:t>
                      </a:r>
                    </a:p>
                  </a:txBody>
                  <a:tcPr marL="109728" marR="109728" marT="36576" marB="36576" anchor="ctr">
                    <a:solidFill>
                      <a:srgbClr val="FBF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094415" y="6382512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3373B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11277295" cy="614476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420624"/>
            <a:ext cx="109728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E4A2E"/>
                </a:solidFill>
                <a:latin typeface="Calibri"/>
              </a:rPr>
              <a:t>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76656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1A1A1A"/>
                </a:solidFill>
                <a:latin typeface="Cambria"/>
              </a:rPr>
              <a:t>Winning Positioning by Person  ·  2 of 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600200"/>
          <a:ext cx="10820094" cy="443484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56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756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09728" marR="109728" marT="36576" marB="36576" anchor="ctr">
                    <a:solidFill>
                      <a:srgbClr val="E7DE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mbria"/>
                        </a:rPr>
                        <a:t>ALENA</a:t>
                      </a:r>
                    </a:p>
                  </a:txBody>
                  <a:tcPr marL="109728" marR="109728" marT="36576" marB="36576" anchor="ctr">
                    <a:solidFill>
                      <a:srgbClr val="AE4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mbria"/>
                        </a:rPr>
                        <a:t>MAXIM</a:t>
                      </a:r>
                    </a:p>
                  </a:txBody>
                  <a:tcPr marL="109728" marR="109728" marT="36576" marB="36576" anchor="ctr">
                    <a:solidFill>
                      <a:srgbClr val="3337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411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AE4A2E"/>
                          </a:solidFill>
                          <a:latin typeface="Calibri"/>
                        </a:rPr>
                        <a:t>Best investor profiles</a:t>
                      </a:r>
                    </a:p>
                  </a:txBody>
                  <a:tcPr marL="109728" marR="109728" marT="36576" marB="36576" anchor="ctr">
                    <a:solidFill>
                      <a:srgbClr val="EFE7D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Operator angels (built and ran real businesses, now angel-invest) · Solo GPs (one-person venture funds, no committee, $100k–$1M tickets) · Family offices via senior intermediary · International strategist-investors (EU/UK/US) · Corporate venture arms with an internal senior sponsor (e.g. Richemont, LVMH, Zalando ventures)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Peer founders now angel-investing · Senior ex-colleagues now investing · Younger founder-angels (under ~40, recent tech exits) · Accelerator partners with younger leadership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411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AE4A2E"/>
                          </a:solidFill>
                          <a:latin typeface="Calibri"/>
                        </a:rPr>
                        <a:t>Worst investor profiles</a:t>
                      </a:r>
                    </a:p>
                  </a:txBody>
                  <a:tcPr marL="109728" marR="109728" marT="36576" marB="36576" anchor="ctr">
                    <a:solidFill>
                      <a:srgbClr val="E7DED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Committee-driven institutional VCs · Bureaucratic process funds</a:t>
                      </a:r>
                    </a:p>
                  </a:txBody>
                  <a:tcPr marL="109728" marR="109728" marT="36576" marB="36576" anchor="ctr"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Formal equity-taking accelerators · Government grant agencies · Family offices reached cold</a:t>
                      </a:r>
                    </a:p>
                  </a:txBody>
                  <a:tcPr marL="109728" marR="109728" marT="36576" marB="36576" anchor="ctr">
                    <a:solidFill>
                      <a:srgbClr val="FBF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411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AE4A2E"/>
                          </a:solidFill>
                          <a:latin typeface="Calibri"/>
                        </a:rPr>
                        <a:t>Peak windows</a:t>
                      </a:r>
                    </a:p>
                  </a:txBody>
                  <a:tcPr marL="109728" marR="109728" marT="36576" marB="36576" anchor="ctr">
                    <a:solidFill>
                      <a:srgbClr val="EFE7D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M5 · M7 (meetings) · M9 · M10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M6 · M7 (meetings) · M11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094415" y="6382512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3373B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11277295" cy="614476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420624"/>
            <a:ext cx="109728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E4A2E"/>
                </a:solidFill>
                <a:latin typeface="Calibri"/>
              </a:rPr>
              <a:t>CAPITAL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76656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1A1A1A"/>
                </a:solidFill>
                <a:latin typeface="Cambria"/>
              </a:rPr>
              <a:t>How the pair wins together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783080"/>
            <a:ext cx="10454335" cy="1325880"/>
          </a:xfrm>
          <a:prstGeom prst="roundRect">
            <a:avLst>
              <a:gd name="adj" fmla="val 6000"/>
            </a:avLst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1965960"/>
            <a:ext cx="9905695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AE4A2E"/>
                </a:solidFill>
                <a:latin typeface="Calibri"/>
              </a:rPr>
              <a:t>Maxim's senior network opens doors.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His strongest channel is being introduced by a respected senior figure who vouches for him — that is where the warm investor pipeline comes from.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264408"/>
            <a:ext cx="10454335" cy="1325880"/>
          </a:xfrm>
          <a:prstGeom prst="roundRect">
            <a:avLst>
              <a:gd name="adj" fmla="val 6000"/>
            </a:avLst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3447288"/>
            <a:ext cx="9905695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AE4A2E"/>
                </a:solidFill>
                <a:latin typeface="Calibri"/>
              </a:rPr>
              <a:t>Alena's strategic-expert profile converts them.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Her strongest channel is direct one-to-one engagement where her thinking is reviewed by the investor personally — that is where conversation becomes commitment.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4745736"/>
            <a:ext cx="10454335" cy="1325880"/>
          </a:xfrm>
          <a:prstGeom prst="roundRect">
            <a:avLst>
              <a:gd name="adj" fmla="val 6000"/>
            </a:avLst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43000" y="4928616"/>
            <a:ext cx="9905695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AE4A2E"/>
                </a:solidFill>
                <a:latin typeface="Calibri"/>
              </a:rPr>
              <a:t>Together: scaled operator + category strategist.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Scaled operator (built and ran real businesses at significant size) + category strategist (deep market and strategic insight) = the combination investors respond to with conviction.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382512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3373B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11277295" cy="614476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420624"/>
            <a:ext cx="109728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E4A2E"/>
                </a:solidFill>
                <a:latin typeface="Calibri"/>
              </a:rPr>
              <a:t>CAPITAL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76656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1A1A1A"/>
                </a:solidFill>
                <a:latin typeface="Cambria"/>
              </a:rPr>
              <a:t>The capital architecture this targets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91640"/>
          <a:ext cx="10911535" cy="4206238"/>
        </p:xfrm>
        <a:graphic>
          <a:graphicData uri="http://schemas.openxmlformats.org/drawingml/2006/table">
            <a:tbl>
              <a:tblPr/>
              <a:tblGrid>
                <a:gridCol w="3520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0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0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Tier of investor</a:t>
                      </a:r>
                    </a:p>
                  </a:txBody>
                  <a:tcPr marL="109728" marR="109728" marT="36576" marB="36576" anchor="ctr">
                    <a:solidFill>
                      <a:srgbClr val="AE4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Why it fits the pair</a:t>
                      </a:r>
                    </a:p>
                  </a:txBody>
                  <a:tcPr marL="109728" marR="109728" marT="36576" marB="36576" anchor="ctr">
                    <a:solidFill>
                      <a:srgbClr val="AE4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Best window</a:t>
                      </a:r>
                    </a:p>
                  </a:txBody>
                  <a:tcPr marL="109728" marR="109728" marT="36576" marB="36576" anchor="ctr">
                    <a:solidFill>
                      <a:srgbClr val="AE4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443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1A1A1A"/>
                          </a:solidFill>
                          <a:latin typeface="Calibri"/>
                        </a:rPr>
                        <a:t>Operator angels &amp; Solo GPs ($50k–$500k tickets)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33373B"/>
                          </a:solidFill>
                          <a:latin typeface="Calibri"/>
                        </a:rPr>
                        <a:t>Match Alena's individual-review channel and Maxim's operator credibility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AE4A2E"/>
                          </a:solidFill>
                          <a:latin typeface="Calibri"/>
                        </a:rPr>
                        <a:t>M5–M10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AE4A2E"/>
                          </a:solidFill>
                          <a:latin typeface="Calibri"/>
                        </a:rPr>
                        <a:t>(Jun 15 – Dec 6)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443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1A1A1A"/>
                          </a:solidFill>
                          <a:latin typeface="Calibri"/>
                        </a:rPr>
                        <a:t>Family offices via senior intermediary ($250k–$2M tickets)</a:t>
                      </a:r>
                    </a:p>
                  </a:txBody>
                  <a:tcPr marL="109728" marR="109728" marT="36576" marB="36576" anchor="ctr"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33373B"/>
                          </a:solidFill>
                          <a:latin typeface="Calibri"/>
                        </a:rPr>
                        <a:t>Maxim's senior network provides the intermediary; Alena converts the conversation</a:t>
                      </a:r>
                    </a:p>
                  </a:txBody>
                  <a:tcPr marL="109728" marR="109728" marT="36576" marB="36576" anchor="ctr"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AE4A2E"/>
                          </a:solidFill>
                          <a:latin typeface="Calibri"/>
                        </a:rPr>
                        <a:t>M9–M10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AE4A2E"/>
                          </a:solidFill>
                          <a:latin typeface="Calibri"/>
                        </a:rPr>
                        <a:t>(Oct 10 – Dec 6)</a:t>
                      </a:r>
                    </a:p>
                  </a:txBody>
                  <a:tcPr marL="109728" marR="109728" marT="36576" marB="36576" anchor="ctr">
                    <a:solidFill>
                      <a:srgbClr val="FBF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443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1A1A1A"/>
                          </a:solidFill>
                          <a:latin typeface="Calibri"/>
                        </a:rPr>
                        <a:t>Corporate venture arms with internal sponsor ($500k–$3M tickets)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33373B"/>
                          </a:solidFill>
                          <a:latin typeface="Calibri"/>
                        </a:rPr>
                        <a:t>Match Alena's strategic-platform positioning + Maxim's industry credibility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AE4A2E"/>
                          </a:solidFill>
                          <a:latin typeface="Calibri"/>
                        </a:rPr>
                        <a:t>M7 meet (Aug 13 – Sep 10)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AE4A2E"/>
                          </a:solidFill>
                          <a:latin typeface="Calibri"/>
                        </a:rPr>
                        <a:t>M10 close (Nov 9 – Dec 6)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443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1A1A1A"/>
                          </a:solidFill>
                          <a:latin typeface="Calibri"/>
                        </a:rPr>
                        <a:t>International strategist-investors (EU/UK/US) ($100k–$1M tickets)</a:t>
                      </a:r>
                    </a:p>
                  </a:txBody>
                  <a:tcPr marL="109728" marR="109728" marT="36576" marB="36576" anchor="ctr"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33373B"/>
                          </a:solidFill>
                          <a:latin typeface="Calibri"/>
                        </a:rPr>
                        <a:t>Match Alena's international written-channel running strong through 2034</a:t>
                      </a:r>
                    </a:p>
                  </a:txBody>
                  <a:tcPr marL="109728" marR="109728" marT="36576" marB="36576" anchor="ctr"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AE4A2E"/>
                          </a:solidFill>
                          <a:latin typeface="Calibri"/>
                        </a:rPr>
                        <a:t>M5 (Jun 15 – Jul 13)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AE4A2E"/>
                          </a:solidFill>
                          <a:latin typeface="Calibri"/>
                        </a:rPr>
                        <a:t>M9 (Oct 10 – Nov 8)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AE4A2E"/>
                          </a:solidFill>
                          <a:latin typeface="Calibri"/>
                        </a:rPr>
                        <a:t>M10 (Nov 9 – Dec 6)</a:t>
                      </a:r>
                    </a:p>
                  </a:txBody>
                  <a:tcPr marL="109728" marR="109728" marT="36576" marB="36576" anchor="ctr">
                    <a:solidFill>
                      <a:srgbClr val="FBF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443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1A1A1A"/>
                          </a:solidFill>
                          <a:latin typeface="Calibri"/>
                        </a:rPr>
                        <a:t>Younger founder-angels ($50k–$300k tickets)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33373B"/>
                          </a:solidFill>
                          <a:latin typeface="Calibri"/>
                        </a:rPr>
                        <a:t>Match Maxim's peak strategic-expert window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AE4A2E"/>
                          </a:solidFill>
                          <a:latin typeface="Calibri"/>
                        </a:rPr>
                        <a:t>M11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AE4A2E"/>
                          </a:solidFill>
                          <a:latin typeface="Calibri"/>
                        </a:rPr>
                        <a:t>(Dec 7 – Jan 5)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094415" y="6382512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3373B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11277295" cy="614476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420624"/>
            <a:ext cx="109728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E4A2E"/>
                </a:solidFill>
                <a:latin typeface="Calibri"/>
              </a:rPr>
              <a:t>CAPITAL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76656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1A1A1A"/>
                </a:solidFill>
                <a:latin typeface="Cambria"/>
              </a:rPr>
              <a:t>Critical rules for the round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17320"/>
          <a:ext cx="10911534" cy="3794760"/>
        </p:xfrm>
        <a:graphic>
          <a:graphicData uri="http://schemas.openxmlformats.org/drawingml/2006/table">
            <a:tbl>
              <a:tblPr/>
              <a:tblGrid>
                <a:gridCol w="37490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624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Rule</a:t>
                      </a:r>
                    </a:p>
                  </a:txBody>
                  <a:tcPr marL="109728" marR="109728" marT="36576" marB="36576" anchor="ctr">
                    <a:solidFill>
                      <a:srgbClr val="3337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What it means in practice</a:t>
                      </a:r>
                    </a:p>
                  </a:txBody>
                  <a:tcPr marL="109728" marR="109728" marT="36576" marB="36576" anchor="ctr">
                    <a:solidFill>
                      <a:srgbClr val="3337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AE4A2E"/>
                          </a:solidFill>
                          <a:latin typeface="Calibri"/>
                        </a:rPr>
                        <a:t>No investment terms signed Aug 13 – Sep 10 (M7)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Hold first meetings and exploratory conversations only. Do not sign any term sheets, SAFEs, convertible notes, shareholder agreements, or letters of intent during this 4-week window.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AE4A2E"/>
                          </a:solidFill>
                          <a:latin typeface="Calibri"/>
                        </a:rPr>
                        <a:t>Equity-formation deals close Oct 10 – Dec 6 (M9–M10)</a:t>
                      </a:r>
                    </a:p>
                  </a:txBody>
                  <a:tcPr marL="109728" marR="109728" marT="36576" marB="36576" anchor="ctr"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These two windows are the best months to sign term sheets, SAFEs, shareholder agreements, and equity contracts with new investors.</a:t>
                      </a:r>
                    </a:p>
                  </a:txBody>
                  <a:tcPr marL="109728" marR="109728" marT="36576" marB="36576" anchor="ctr">
                    <a:solidFill>
                      <a:srgbClr val="FBF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AE4A2E"/>
                          </a:solidFill>
                          <a:latin typeface="Calibri"/>
                        </a:rPr>
                        <a:t>Maxim does not join equity-taking accelerator programs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Avoid programs that take equity in exchange for participation (Y Combinator, Techstars, Entrepreneur First, Antler). Joining only as a mentor or advisor is fine.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AE4A2E"/>
                          </a:solidFill>
                          <a:latin typeface="Calibri"/>
                        </a:rPr>
                        <a:t>Maxim opens; Alena closes</a:t>
                      </a:r>
                    </a:p>
                  </a:txBody>
                  <a:tcPr marL="109728" marR="109728" marT="36576" marB="36576" anchor="ctr"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Maxim sources warm introductions through his senior network. Alena leads the actual investor meetings and converts them to commitment. Reversing these roles weakens both channels.</a:t>
                      </a:r>
                    </a:p>
                  </a:txBody>
                  <a:tcPr marL="109728" marR="109728" marT="36576" marB="36576" anchor="ctr">
                    <a:solidFill>
                      <a:srgbClr val="FBF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AE4A2E"/>
                          </a:solidFill>
                          <a:latin typeface="Calibri"/>
                        </a:rPr>
                        <a:t>Peak cash close month = M10 (Nov 9 – Dec 6)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The single highest-probability month for multiple investor commitments to land simultaneously. Hold capacity for parallel closes.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376672"/>
            <a:ext cx="10911535" cy="566928"/>
          </a:xfrm>
          <a:prstGeom prst="roundRect">
            <a:avLst>
              <a:gd name="adj" fmla="val 14000"/>
            </a:avLst>
          </a:prstGeom>
          <a:solidFill>
            <a:srgbClr val="AE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5376672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Maxim's relationships open the room. Alena's expertise wins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382512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3373B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1255</Words>
  <Application>Microsoft Macintosh PowerPoint</Application>
  <PresentationFormat>Widescreen</PresentationFormat>
  <Paragraphs>148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Sophia Bressers</cp:lastModifiedBy>
  <cp:revision>2</cp:revision>
  <dcterms:created xsi:type="dcterms:W3CDTF">2013-01-27T09:14:16Z</dcterms:created>
  <dcterms:modified xsi:type="dcterms:W3CDTF">2026-06-21T16:06:01Z</dcterms:modified>
  <cp:category/>
</cp:coreProperties>
</file>