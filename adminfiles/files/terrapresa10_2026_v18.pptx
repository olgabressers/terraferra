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71" r:id="rId3"/>
    <p:sldId id="258" r:id="rId4"/>
    <p:sldId id="262" r:id="rId5"/>
    <p:sldId id="259" r:id="rId6"/>
    <p:sldId id="260" r:id="rId7"/>
    <p:sldId id="261" r:id="rId8"/>
    <p:sldId id="265" r:id="rId9"/>
    <p:sldId id="264" r:id="rId10"/>
    <p:sldId id="275" r:id="rId11"/>
    <p:sldId id="274" r:id="rId12"/>
    <p:sldId id="273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-1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3386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9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commercedb.com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emarketer.com" TargetMode="External"/><Relationship Id="rId4" Type="http://schemas.openxmlformats.org/officeDocument/2006/relationships/hyperlink" Target="https://www.mordorintelligence.com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14884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kern="0" spc="200" dirty="0">
                <a:solidFill>
                  <a:srgbClr val="EE6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 FERRA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685800" y="34290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AI-native marketplace for affordable luxury fashion drops.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85800" y="5943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· June 2026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EE6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85800" y="896112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3F48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Emerging fashion can't launch</a:t>
            </a:r>
            <a:r>
              <a:rPr lang="en-US" sz="3800" dirty="0"/>
              <a:t> </a:t>
            </a:r>
            <a:r>
              <a:rPr lang="en-US" sz="3800" b="1" dirty="0">
                <a:solidFill>
                  <a:srgbClr val="3F48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big risk. Consumers can’t find their unique style.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285800" y="2468880"/>
            <a:ext cx="45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Brands can't launch without risk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285800" y="3127248"/>
            <a:ext cx="45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Producing inventory upfront is expensive, and marketplaces take 25–52% of every sale.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955080" y="2468880"/>
            <a:ext cx="45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platforms are affiliate-only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955080" y="3127248"/>
            <a:ext cx="45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need products already in stock and charge brands thousands a year upfront — no pre-order, no try-on.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85800" y="4389120"/>
            <a:ext cx="45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influencers who sell are shut out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85800" y="5047488"/>
            <a:ext cx="45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89.5% of influencers — the nano and micro tiers under 50K whose communities actually buy — don't fit those platforms.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955080" y="4389120"/>
            <a:ext cx="45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Consumers can't discover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955080" y="5047488"/>
            <a:ext cx="45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fashion-native place to find emerging brands or their own look — just the same mass-market trends.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143000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300" name="Circle 0"/>
          <p:cNvSpPr/>
          <p:nvPr/>
        </p:nvSpPr>
        <p:spPr>
          <a:xfrm>
            <a:off x="685800" y="2551780"/>
            <a:ext cx="520000" cy="520000"/>
          </a:xfrm>
          <a:prstGeom prst="ellipse">
            <a:avLst/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301" name="Icon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800" y="2661780"/>
            <a:ext cx="300000" cy="300000"/>
          </a:xfrm>
          <a:prstGeom prst="rect">
            <a:avLst/>
          </a:prstGeom>
        </p:spPr>
      </p:pic>
      <p:sp>
        <p:nvSpPr>
          <p:cNvPr id="302" name="Circle 1"/>
          <p:cNvSpPr/>
          <p:nvPr/>
        </p:nvSpPr>
        <p:spPr>
          <a:xfrm>
            <a:off x="6355080" y="2551780"/>
            <a:ext cx="520000" cy="520000"/>
          </a:xfrm>
          <a:prstGeom prst="ellipse">
            <a:avLst/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303" name="Ic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5080" y="2661780"/>
            <a:ext cx="300000" cy="300000"/>
          </a:xfrm>
          <a:prstGeom prst="rect">
            <a:avLst/>
          </a:prstGeom>
        </p:spPr>
      </p:pic>
      <p:sp>
        <p:nvSpPr>
          <p:cNvPr id="304" name="Circle 2"/>
          <p:cNvSpPr/>
          <p:nvPr/>
        </p:nvSpPr>
        <p:spPr>
          <a:xfrm>
            <a:off x="685800" y="4472020"/>
            <a:ext cx="520000" cy="520000"/>
          </a:xfrm>
          <a:prstGeom prst="ellipse">
            <a:avLst/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305" name="Icon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800" y="4582020"/>
            <a:ext cx="300000" cy="300000"/>
          </a:xfrm>
          <a:prstGeom prst="rect">
            <a:avLst/>
          </a:prstGeom>
        </p:spPr>
      </p:pic>
      <p:sp>
        <p:nvSpPr>
          <p:cNvPr id="306" name="Circle 3"/>
          <p:cNvSpPr/>
          <p:nvPr/>
        </p:nvSpPr>
        <p:spPr>
          <a:xfrm>
            <a:off x="6355080" y="4472020"/>
            <a:ext cx="520000" cy="520000"/>
          </a:xfrm>
          <a:prstGeom prst="ellipse">
            <a:avLst/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307" name="Icon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5080" y="4582020"/>
            <a:ext cx="300000" cy="30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EE6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85800" y="896112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3F48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AI-native drops platform where</a:t>
            </a:r>
            <a:endParaRPr lang="en-US" sz="38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3F48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brands, influencers &amp; consumers meet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2606040"/>
            <a:ext cx="777240" cy="777240"/>
          </a:xfrm>
          <a:prstGeom prst="ellipse">
            <a:avLst/>
          </a:prstGeom>
          <a:solidFill>
            <a:srgbClr val="F4F4F4"/>
          </a:solidFill>
          <a:ln/>
        </p:spPr>
      </p:sp>
      <p:pic>
        <p:nvPicPr>
          <p:cNvPr id="5" name="Image 0" descr="/tmp/tf/icons/box_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807208"/>
            <a:ext cx="374904" cy="3749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25603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Pre-order drops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691640" y="306324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Brands sell before they produce — no inventory risk, no upfront fees. They fulfil; we provide the platform.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355080" y="2606040"/>
            <a:ext cx="777240" cy="777240"/>
          </a:xfrm>
          <a:prstGeom prst="ellipse">
            <a:avLst/>
          </a:prstGeom>
          <a:solidFill>
            <a:srgbClr val="F4F4F4"/>
          </a:solidFill>
          <a:ln/>
        </p:spPr>
      </p:sp>
      <p:pic>
        <p:nvPicPr>
          <p:cNvPr id="9" name="Image 1" descr="/tmp/tf/icons/camera_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2807208"/>
            <a:ext cx="374904" cy="37490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60920" y="25603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virtual try-on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7360920" y="306324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Influencers try the look on virtually — just like consumers — then share. Every share spreads the drop and pulls new users onto the platform.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85800" y="4526280"/>
            <a:ext cx="777240" cy="777240"/>
          </a:xfrm>
          <a:prstGeom prst="ellipse">
            <a:avLst/>
          </a:prstGeom>
          <a:solidFill>
            <a:srgbClr val="F4F4F4"/>
          </a:solidFill>
          <a:ln/>
        </p:spPr>
      </p:sp>
      <p:pic>
        <p:nvPicPr>
          <p:cNvPr id="13" name="Image 2" descr="/tmp/tf/icons/compass_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4727448"/>
            <a:ext cx="374904" cy="37490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91640" y="4480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Niche-style discovery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1691640" y="498348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Consumers find their own niche style and discover new emerging brands — not the most-hyped or mass market item.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6355080" y="4526280"/>
            <a:ext cx="777240" cy="777240"/>
          </a:xfrm>
          <a:prstGeom prst="ellipse">
            <a:avLst/>
          </a:prstGeom>
          <a:solidFill>
            <a:srgbClr val="F4F4F4"/>
          </a:solidFill>
          <a:ln/>
        </p:spPr>
      </p:sp>
      <p:pic>
        <p:nvPicPr>
          <p:cNvPr id="17" name="Image 3" descr="/tmp/tf/icons/hand_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6248" y="4727448"/>
            <a:ext cx="374904" cy="37490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60920" y="4480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share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7360920" y="4983480"/>
            <a:ext cx="4114800" cy="149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access, sold-out moments, founding-member status turn consumers into superfans — and every micro-influencer earns a real cut. The growth spiral runs itself.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143000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EE6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85800" y="896112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3F48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window is open now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1832689"/>
            <a:ext cx="3352800" cy="3200400"/>
          </a:xfrm>
          <a:prstGeom prst="roundRect">
            <a:avLst>
              <a:gd name="adj" fmla="val 2286"/>
            </a:avLst>
          </a:prstGeom>
          <a:solidFill>
            <a:srgbClr val="F4F4F4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404360" y="1832689"/>
            <a:ext cx="3352800" cy="3200400"/>
          </a:xfrm>
          <a:prstGeom prst="roundRect">
            <a:avLst>
              <a:gd name="adj" fmla="val 2286"/>
            </a:avLst>
          </a:prstGeom>
          <a:solidFill>
            <a:srgbClr val="F4F4F4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122920" y="1832689"/>
            <a:ext cx="3352800" cy="3200400"/>
          </a:xfrm>
          <a:prstGeom prst="roundRect">
            <a:avLst>
              <a:gd name="adj" fmla="val 2286"/>
            </a:avLst>
          </a:prstGeom>
          <a:solidFill>
            <a:srgbClr val="F4F4F4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1143000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40" name="Stat 0"/>
          <p:cNvSpPr/>
          <p:nvPr/>
        </p:nvSpPr>
        <p:spPr>
          <a:xfrm>
            <a:off x="985800" y="2235289"/>
            <a:ext cx="275280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EE6B1F"/>
                </a:solidFill>
                <a:latin typeface="Arial" pitchFamily="34" charset="0"/>
                <a:cs typeface="Arial" pitchFamily="34" charset="0"/>
              </a:rPr>
              <a:t>2024</a:t>
            </a:r>
          </a:p>
        </p:txBody>
      </p:sp>
      <p:sp>
        <p:nvSpPr>
          <p:cNvPr id="41" name="Label 0"/>
          <p:cNvSpPr/>
          <p:nvPr/>
        </p:nvSpPr>
        <p:spPr>
          <a:xfrm>
            <a:off x="985800" y="3235249"/>
            <a:ext cx="2752800" cy="5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3F4897"/>
                </a:solidFill>
                <a:latin typeface="Arial" pitchFamily="34" charset="0"/>
                <a:cs typeface="Arial" pitchFamily="34" charset="0"/>
              </a:rPr>
              <a:t>AI just arrived</a:t>
            </a:r>
          </a:p>
        </p:txBody>
      </p:sp>
      <p:sp>
        <p:nvSpPr>
          <p:cNvPr id="42" name="Body 0"/>
          <p:cNvSpPr/>
          <p:nvPr/>
        </p:nvSpPr>
        <p:spPr>
          <a:xfrm>
            <a:off x="985800" y="3775249"/>
            <a:ext cx="2752800" cy="123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cs typeface="Arial" pitchFamily="34" charset="-120"/>
              </a:rPr>
              <a:t>Virtual try-on went from enterprise-only (2023) to any platform via API (2024). Closing micro-influencers is now automatable too.</a:t>
            </a:r>
          </a:p>
        </p:txBody>
      </p:sp>
      <p:sp>
        <p:nvSpPr>
          <p:cNvPr id="43" name="Stat 1"/>
          <p:cNvSpPr/>
          <p:nvPr/>
        </p:nvSpPr>
        <p:spPr>
          <a:xfrm>
            <a:off x="4704360" y="2235289"/>
            <a:ext cx="275280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EE6B1F"/>
                </a:solidFill>
                <a:latin typeface="Arial" pitchFamily="34" charset="0"/>
                <a:cs typeface="Arial" pitchFamily="34" charset="0"/>
              </a:rPr>
              <a:t>$5.25B</a:t>
            </a:r>
          </a:p>
        </p:txBody>
      </p:sp>
      <p:sp>
        <p:nvSpPr>
          <p:cNvPr id="44" name="Label 1"/>
          <p:cNvSpPr/>
          <p:nvPr/>
        </p:nvSpPr>
        <p:spPr>
          <a:xfrm>
            <a:off x="4704360" y="3235249"/>
            <a:ext cx="2752800" cy="5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3F4897"/>
                </a:solidFill>
                <a:latin typeface="Arial" pitchFamily="34" charset="0"/>
                <a:cs typeface="Arial" pitchFamily="34" charset="0"/>
              </a:rPr>
              <a:t>Flowing to micro</a:t>
            </a:r>
          </a:p>
        </p:txBody>
      </p:sp>
      <p:sp>
        <p:nvSpPr>
          <p:cNvPr id="45" name="Body 1"/>
          <p:cNvSpPr/>
          <p:nvPr/>
        </p:nvSpPr>
        <p:spPr>
          <a:xfrm>
            <a:off x="4704360" y="3775249"/>
            <a:ext cx="2752800" cy="123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cs typeface="Arial" pitchFamily="34" charset="-120"/>
              </a:rPr>
              <a:t>About 50% of all creator spend now flows to nano &amp; micro influencers — yet platforms route around them.</a:t>
            </a:r>
          </a:p>
        </p:txBody>
      </p:sp>
      <p:sp>
        <p:nvSpPr>
          <p:cNvPr id="46" name="Stat 2"/>
          <p:cNvSpPr/>
          <p:nvPr/>
        </p:nvSpPr>
        <p:spPr>
          <a:xfrm>
            <a:off x="8422920" y="2235289"/>
            <a:ext cx="275280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EE6B1F"/>
                </a:solidFill>
                <a:latin typeface="Arial" pitchFamily="34" charset="0"/>
                <a:cs typeface="Arial" pitchFamily="34" charset="0"/>
              </a:rPr>
              <a:t>40%</a:t>
            </a:r>
          </a:p>
        </p:txBody>
      </p:sp>
      <p:sp>
        <p:nvSpPr>
          <p:cNvPr id="47" name="Label 2"/>
          <p:cNvSpPr/>
          <p:nvPr/>
        </p:nvSpPr>
        <p:spPr>
          <a:xfrm>
            <a:off x="8422920" y="3235249"/>
            <a:ext cx="2752800" cy="5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3F4897"/>
                </a:solidFill>
                <a:latin typeface="Arial" pitchFamily="34" charset="0"/>
                <a:cs typeface="Arial" pitchFamily="34" charset="0"/>
              </a:rPr>
              <a:t>Gen Z by 2035</a:t>
            </a:r>
          </a:p>
        </p:txBody>
      </p:sp>
      <p:sp>
        <p:nvSpPr>
          <p:cNvPr id="48" name="Body 2"/>
          <p:cNvSpPr/>
          <p:nvPr/>
        </p:nvSpPr>
        <p:spPr>
          <a:xfrm>
            <a:off x="8422920" y="3775249"/>
            <a:ext cx="2752800" cy="123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12000"/>
              </a:lnSpc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cs typeface="Arial" pitchFamily="34" charset="-120"/>
              </a:rPr>
              <a:t>Gen Z drives ~40% of fashion spend by 2035 — discovering via micro-influencers and prizing unique over mass-market.</a:t>
            </a:r>
          </a:p>
        </p:txBody>
      </p:sp>
      <p:sp>
        <p:nvSpPr>
          <p:cNvPr id="5" name="Shape 15">
            <a:extLst>
              <a:ext uri="{FF2B5EF4-FFF2-40B4-BE49-F238E27FC236}">
                <a16:creationId xmlns:a16="http://schemas.microsoft.com/office/drawing/2014/main" id="{77AFEA1D-8100-4652-B3CB-0468BFE1A745}"/>
              </a:ext>
            </a:extLst>
          </p:cNvPr>
          <p:cNvSpPr/>
          <p:nvPr/>
        </p:nvSpPr>
        <p:spPr>
          <a:xfrm>
            <a:off x="640080" y="5547684"/>
            <a:ext cx="10789920" cy="868680"/>
          </a:xfrm>
          <a:prstGeom prst="roundRect">
            <a:avLst>
              <a:gd name="adj" fmla="val 8421"/>
            </a:avLst>
          </a:prstGeom>
          <a:solidFill>
            <a:srgbClr val="0E0E0E"/>
          </a:solidFill>
          <a:ln/>
        </p:spPr>
      </p:sp>
      <p:sp>
        <p:nvSpPr>
          <p:cNvPr id="6" name="Text 16">
            <a:extLst>
              <a:ext uri="{FF2B5EF4-FFF2-40B4-BE49-F238E27FC236}">
                <a16:creationId xmlns:a16="http://schemas.microsoft.com/office/drawing/2014/main" id="{CAC48F98-16E8-8153-1C7A-363398870307}"/>
              </a:ext>
            </a:extLst>
          </p:cNvPr>
          <p:cNvSpPr/>
          <p:nvPr/>
        </p:nvSpPr>
        <p:spPr>
          <a:xfrm>
            <a:off x="1051560" y="5547684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E6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is open and unbuilt</a:t>
            </a:r>
            <a:r>
              <a:rPr lang="en-US" sz="1700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r>
              <a:rPr lang="en-US" sz="1700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platform combines open global access, pre-order drops, AI try-on and shared influencer upside. The window won't stay open.</a:t>
            </a:r>
            <a:endParaRPr lang="en-US" sz="17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6">
            <a:extLst>
              <a:ext uri="{FF2B5EF4-FFF2-40B4-BE49-F238E27FC236}">
                <a16:creationId xmlns:a16="http://schemas.microsoft.com/office/drawing/2014/main" id="{E379B7EF-E35E-DD59-B0E4-1190295A65F5}"/>
              </a:ext>
            </a:extLst>
          </p:cNvPr>
          <p:cNvSpPr/>
          <p:nvPr/>
        </p:nvSpPr>
        <p:spPr>
          <a:xfrm flipH="1">
            <a:off x="3112009" y="4975788"/>
            <a:ext cx="7025510" cy="27804"/>
          </a:xfrm>
          <a:prstGeom prst="line">
            <a:avLst/>
          </a:prstGeom>
          <a:noFill/>
          <a:ln w="38100">
            <a:solidFill>
              <a:srgbClr val="EE6B1F"/>
            </a:solidFill>
            <a:prstDash val="solid"/>
            <a:tailEnd type="triangle"/>
          </a:ln>
        </p:spPr>
      </p:sp>
      <p:sp>
        <p:nvSpPr>
          <p:cNvPr id="2" name="Text 0"/>
          <p:cNvSpPr/>
          <p:nvPr/>
        </p:nvSpPr>
        <p:spPr>
          <a:xfrm>
            <a:off x="685800" y="56692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EE6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- HOW IT WORKS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85800" y="896112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3F48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loop that grows itself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2395728" cy="3063240"/>
          </a:xfrm>
          <a:prstGeom prst="roundRect">
            <a:avLst>
              <a:gd name="adj" fmla="val 3053"/>
            </a:avLst>
          </a:prstGeom>
          <a:solidFill>
            <a:srgbClr val="F4F4F4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26464" y="251460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tmp/tf/icons/store_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273405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56616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914400" y="4069080"/>
            <a:ext cx="1938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cs typeface="Arial" pitchFamily="34" charset="-120"/>
              </a:rPr>
              <a:t>Launch a drop — no inventory, no stock risk.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cs typeface="Arial" pitchFamily="34" charset="-120"/>
              </a:rPr>
              <a:t>Up-sale with regular collection</a:t>
            </a:r>
          </a:p>
        </p:txBody>
      </p:sp>
      <p:sp>
        <p:nvSpPr>
          <p:cNvPr id="9" name="Shape 6"/>
          <p:cNvSpPr/>
          <p:nvPr/>
        </p:nvSpPr>
        <p:spPr>
          <a:xfrm>
            <a:off x="3136392" y="3680460"/>
            <a:ext cx="292608" cy="0"/>
          </a:xfrm>
          <a:prstGeom prst="line">
            <a:avLst/>
          </a:prstGeom>
          <a:noFill/>
          <a:ln w="38100">
            <a:solidFill>
              <a:srgbClr val="EE6B1F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483864" y="2148840"/>
            <a:ext cx="2395728" cy="3063240"/>
          </a:xfrm>
          <a:prstGeom prst="roundRect">
            <a:avLst>
              <a:gd name="adj" fmla="val 3053"/>
            </a:avLst>
          </a:prstGeom>
          <a:solidFill>
            <a:srgbClr val="F4F4F4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24528" y="251460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/tmp/tf/icons/users_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984" y="2734056"/>
            <a:ext cx="475488" cy="4754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66744" y="356616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Influencers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3712464" y="4069080"/>
            <a:ext cx="1938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00" dirty="0">
                <a:solidFill>
                  <a:srgbClr val="444444"/>
                </a:solidFill>
                <a:latin typeface="Arial" pitchFamily="34" charset="0"/>
                <a:cs typeface="Arial" pitchFamily="34" charset="-120"/>
              </a:rPr>
              <a:t>Promote to their own audience and earn a cut.</a:t>
            </a:r>
          </a:p>
        </p:txBody>
      </p:sp>
      <p:sp>
        <p:nvSpPr>
          <p:cNvPr id="15" name="Shape 11"/>
          <p:cNvSpPr/>
          <p:nvPr/>
        </p:nvSpPr>
        <p:spPr>
          <a:xfrm>
            <a:off x="5934456" y="3680460"/>
            <a:ext cx="292608" cy="0"/>
          </a:xfrm>
          <a:prstGeom prst="line">
            <a:avLst/>
          </a:prstGeom>
          <a:noFill/>
          <a:ln w="38100">
            <a:solidFill>
              <a:srgbClr val="EE6B1F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6281928" y="2148840"/>
            <a:ext cx="2395728" cy="3063240"/>
          </a:xfrm>
          <a:prstGeom prst="roundRect">
            <a:avLst>
              <a:gd name="adj" fmla="val 3053"/>
            </a:avLst>
          </a:prstGeom>
          <a:solidFill>
            <a:srgbClr val="F4F4F4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022592" y="251460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/tmp/tf/icons/bag_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2048" y="2734056"/>
            <a:ext cx="475488" cy="4754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64808" y="356616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Consumers</a:t>
            </a:r>
            <a:endParaRPr lang="en-US" sz="2100" dirty="0"/>
          </a:p>
        </p:txBody>
      </p:sp>
      <p:sp>
        <p:nvSpPr>
          <p:cNvPr id="20" name="Text 15"/>
          <p:cNvSpPr/>
          <p:nvPr/>
        </p:nvSpPr>
        <p:spPr>
          <a:xfrm>
            <a:off x="6510528" y="4069080"/>
            <a:ext cx="1938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algn="ctr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cs typeface="Arial" pitchFamily="34" charset="-120"/>
              </a:rPr>
              <a:t>Try on, pre-order, and share for identity &amp; access.</a:t>
            </a:r>
          </a:p>
        </p:txBody>
      </p:sp>
      <p:sp>
        <p:nvSpPr>
          <p:cNvPr id="21" name="Shape 16"/>
          <p:cNvSpPr/>
          <p:nvPr/>
        </p:nvSpPr>
        <p:spPr>
          <a:xfrm>
            <a:off x="8732520" y="3680460"/>
            <a:ext cx="292608" cy="0"/>
          </a:xfrm>
          <a:prstGeom prst="line">
            <a:avLst/>
          </a:prstGeom>
          <a:noFill/>
          <a:ln w="38100">
            <a:solidFill>
              <a:srgbClr val="EE6B1F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9079992" y="2148840"/>
            <a:ext cx="2395728" cy="3063240"/>
          </a:xfrm>
          <a:prstGeom prst="roundRect">
            <a:avLst>
              <a:gd name="adj" fmla="val 3053"/>
            </a:avLst>
          </a:prstGeom>
          <a:solidFill>
            <a:srgbClr val="0E0E0E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820656" y="2514600"/>
            <a:ext cx="914400" cy="914400"/>
          </a:xfrm>
          <a:prstGeom prst="ellipse">
            <a:avLst/>
          </a:prstGeom>
          <a:solidFill>
            <a:srgbClr val="EE6B1F"/>
          </a:solidFill>
          <a:ln/>
        </p:spPr>
      </p:sp>
      <p:pic>
        <p:nvPicPr>
          <p:cNvPr id="24" name="Image 3" descr="/tmp/tf/icons/fir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0112" y="2734056"/>
            <a:ext cx="475488" cy="47548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62872" y="356616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Viral growth</a:t>
            </a:r>
            <a:endParaRPr lang="en-US" sz="2100" dirty="0"/>
          </a:p>
        </p:txBody>
      </p:sp>
      <p:sp>
        <p:nvSpPr>
          <p:cNvPr id="26" name="Text 20"/>
          <p:cNvSpPr/>
          <p:nvPr/>
        </p:nvSpPr>
        <p:spPr>
          <a:xfrm>
            <a:off x="9308592" y="4069080"/>
            <a:ext cx="1938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Every share pulls in new consumers, influencers and brands.</a:t>
            </a:r>
          </a:p>
        </p:txBody>
      </p:sp>
      <p:sp>
        <p:nvSpPr>
          <p:cNvPr id="27" name="Shape 21"/>
          <p:cNvSpPr/>
          <p:nvPr/>
        </p:nvSpPr>
        <p:spPr>
          <a:xfrm>
            <a:off x="11018520" y="5486400"/>
            <a:ext cx="0" cy="0"/>
          </a:xfrm>
          <a:prstGeom prst="line">
            <a:avLst/>
          </a:prstGeom>
          <a:noFill/>
          <a:ln w="25400">
            <a:solidFill>
              <a:srgbClr val="3F4897"/>
            </a:solidFill>
            <a:prstDash val="dash"/>
            <a:tailEnd type="triangle"/>
          </a:ln>
        </p:spPr>
      </p:sp>
      <p:sp>
        <p:nvSpPr>
          <p:cNvPr id="29" name="Text 23"/>
          <p:cNvSpPr/>
          <p:nvPr/>
        </p:nvSpPr>
        <p:spPr>
          <a:xfrm>
            <a:off x="1143000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01" name="Badge 201"/>
          <p:cNvSpPr/>
          <p:nvPr/>
        </p:nvSpPr>
        <p:spPr>
          <a:xfrm>
            <a:off x="5894760" y="3825203"/>
            <a:ext cx="372000" cy="372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FEFEF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02" name="IconBadge 20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0293" y="3814516"/>
            <a:ext cx="300000" cy="300000"/>
          </a:xfrm>
          <a:prstGeom prst="rect">
            <a:avLst/>
          </a:prstGeom>
        </p:spPr>
      </p:pic>
      <p:pic>
        <p:nvPicPr>
          <p:cNvPr id="206" name="IconBadge 20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9320" y="5144272"/>
            <a:ext cx="300000" cy="300000"/>
          </a:xfrm>
          <a:prstGeom prst="rect">
            <a:avLst/>
          </a:prstGeom>
        </p:spPr>
      </p:pic>
      <p:sp>
        <p:nvSpPr>
          <p:cNvPr id="31" name="Shape 15">
            <a:extLst>
              <a:ext uri="{FF2B5EF4-FFF2-40B4-BE49-F238E27FC236}">
                <a16:creationId xmlns:a16="http://schemas.microsoft.com/office/drawing/2014/main" id="{0FB436EC-FBD2-AA49-72A8-D6D7EB26587F}"/>
              </a:ext>
            </a:extLst>
          </p:cNvPr>
          <p:cNvSpPr/>
          <p:nvPr/>
        </p:nvSpPr>
        <p:spPr>
          <a:xfrm>
            <a:off x="640080" y="5547684"/>
            <a:ext cx="10789920" cy="868680"/>
          </a:xfrm>
          <a:prstGeom prst="roundRect">
            <a:avLst>
              <a:gd name="adj" fmla="val 8421"/>
            </a:avLst>
          </a:prstGeom>
          <a:solidFill>
            <a:srgbClr val="0E0E0E"/>
          </a:solidFill>
          <a:ln/>
        </p:spPr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484AA7D0-2B46-E3A0-D98A-C0819EE00309}"/>
              </a:ext>
            </a:extLst>
          </p:cNvPr>
          <p:cNvSpPr/>
          <p:nvPr/>
        </p:nvSpPr>
        <p:spPr>
          <a:xfrm>
            <a:off x="1051560" y="5547684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00" b="1" dirty="0">
                <a:solidFill>
                  <a:srgbClr val="EE6B1F"/>
                </a:solidFill>
                <a:latin typeface="Arial" pitchFamily="34" charset="0"/>
                <a:cs typeface="Arial" pitchFamily="34" charset="-120"/>
              </a:rPr>
              <a:t>Viral, native growth </a:t>
            </a:r>
            <a:r>
              <a:rPr lang="en-US" sz="1800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every drop feeds the next, with no paid acquisition.</a:t>
            </a: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700" dirty="0">
              <a:solidFill>
                <a:schemeClr val="bg1"/>
              </a:solidFill>
            </a:endParaRPr>
          </a:p>
        </p:txBody>
      </p:sp>
      <p:pic>
        <p:nvPicPr>
          <p:cNvPr id="33" name="Image 2" descr="/tmp/tf/icons/match_o.png">
            <a:extLst>
              <a:ext uri="{FF2B5EF4-FFF2-40B4-BE49-F238E27FC236}">
                <a16:creationId xmlns:a16="http://schemas.microsoft.com/office/drawing/2014/main" id="{E70138C4-0ABA-A362-D588-A70CD311ED8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39504" y="3794760"/>
            <a:ext cx="393192" cy="393192"/>
          </a:xfrm>
          <a:prstGeom prst="rect">
            <a:avLst/>
          </a:prstGeom>
        </p:spPr>
      </p:pic>
      <p:sp>
        <p:nvSpPr>
          <p:cNvPr id="36" name="Badge 201">
            <a:extLst>
              <a:ext uri="{FF2B5EF4-FFF2-40B4-BE49-F238E27FC236}">
                <a16:creationId xmlns:a16="http://schemas.microsoft.com/office/drawing/2014/main" id="{6E3F11CF-2DA3-3B27-FBE9-2119755B63BC}"/>
              </a:ext>
            </a:extLst>
          </p:cNvPr>
          <p:cNvSpPr/>
          <p:nvPr/>
        </p:nvSpPr>
        <p:spPr>
          <a:xfrm>
            <a:off x="8702246" y="3821310"/>
            <a:ext cx="372000" cy="372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FEFEF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37" name="IconBadge 202">
            <a:extLst>
              <a:ext uri="{FF2B5EF4-FFF2-40B4-BE49-F238E27FC236}">
                <a16:creationId xmlns:a16="http://schemas.microsoft.com/office/drawing/2014/main" id="{ADC52E6F-5AB5-43C6-1ABF-95B15894E5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47779" y="3810623"/>
            <a:ext cx="300000" cy="30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EE6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- HOW IT WORKS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85800" y="896112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3F48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AI-native fashion marketplace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19385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0E0E"/>
                </a:solidFill>
                <a:latin typeface="Arial" pitchFamily="34" charset="0"/>
                <a:cs typeface="Arial" pitchFamily="34" charset="-120"/>
              </a:rPr>
              <a:t>Three AI capabilities — newly affordable to the platform — at the core of every drop.</a:t>
            </a:r>
          </a:p>
        </p:txBody>
      </p:sp>
      <p:sp>
        <p:nvSpPr>
          <p:cNvPr id="5" name="Shape 3"/>
          <p:cNvSpPr/>
          <p:nvPr/>
        </p:nvSpPr>
        <p:spPr>
          <a:xfrm>
            <a:off x="685800" y="2606040"/>
            <a:ext cx="3352800" cy="2743200"/>
          </a:xfrm>
          <a:prstGeom prst="roundRect">
            <a:avLst>
              <a:gd name="adj" fmla="val 2667"/>
            </a:avLst>
          </a:prstGeom>
          <a:solidFill>
            <a:srgbClr val="F4F4F4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88036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/tmp/tf/icons/camera_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584" y="3072384"/>
            <a:ext cx="393192" cy="3931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3749040"/>
            <a:ext cx="262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Try-On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051560" y="4310513"/>
            <a:ext cx="262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cs typeface="Arial" pitchFamily="34" charset="-120"/>
              </a:rPr>
              <a:t>See any piece on yourself — and on the influencer sharing it — before you pre-order.</a:t>
            </a:r>
          </a:p>
        </p:txBody>
      </p:sp>
      <p:sp>
        <p:nvSpPr>
          <p:cNvPr id="10" name="Shape 7"/>
          <p:cNvSpPr/>
          <p:nvPr/>
        </p:nvSpPr>
        <p:spPr>
          <a:xfrm>
            <a:off x="4404360" y="2606040"/>
            <a:ext cx="3352800" cy="2743200"/>
          </a:xfrm>
          <a:prstGeom prst="roundRect">
            <a:avLst>
              <a:gd name="adj" fmla="val 2667"/>
            </a:avLst>
          </a:prstGeom>
          <a:solidFill>
            <a:srgbClr val="F4F4F4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70120" y="288036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/tmp/tf/icons/compass_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2144" y="3072384"/>
            <a:ext cx="393192" cy="3931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0120" y="3749040"/>
            <a:ext cx="262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Niche-style discovery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770120" y="4310513"/>
            <a:ext cx="2778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444444"/>
                </a:solidFill>
                <a:latin typeface="Arial" pitchFamily="34" charset="0"/>
                <a:cs typeface="Arial" pitchFamily="34" charset="-120"/>
              </a:rPr>
              <a:t>Surfaces emerging brands matched to your own taste, not the most-hyped or mass-market items.</a:t>
            </a:r>
          </a:p>
        </p:txBody>
      </p:sp>
      <p:sp>
        <p:nvSpPr>
          <p:cNvPr id="15" name="Shape 11"/>
          <p:cNvSpPr/>
          <p:nvPr/>
        </p:nvSpPr>
        <p:spPr>
          <a:xfrm>
            <a:off x="8122920" y="2606040"/>
            <a:ext cx="3352800" cy="2743200"/>
          </a:xfrm>
          <a:prstGeom prst="roundRect">
            <a:avLst>
              <a:gd name="adj" fmla="val 2667"/>
            </a:avLst>
          </a:prstGeom>
          <a:solidFill>
            <a:srgbClr val="F4F4F4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88680" y="288036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/tmp/tf/icons/match_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0704" y="3072384"/>
            <a:ext cx="393192" cy="39319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88680" y="3749040"/>
            <a:ext cx="262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 Match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8488680" y="4310513"/>
            <a:ext cx="262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cs typeface="Arial" pitchFamily="34" charset="-120"/>
              </a:rPr>
              <a:t>AI – native matching finds the nano &amp; micro influencers whose audience will actually buy each drop.</a:t>
            </a:r>
          </a:p>
        </p:txBody>
      </p:sp>
      <p:sp>
        <p:nvSpPr>
          <p:cNvPr id="20" name="Shape 15"/>
          <p:cNvSpPr/>
          <p:nvPr/>
        </p:nvSpPr>
        <p:spPr>
          <a:xfrm>
            <a:off x="685800" y="5486400"/>
            <a:ext cx="10789920" cy="868680"/>
          </a:xfrm>
          <a:prstGeom prst="roundRect">
            <a:avLst>
              <a:gd name="adj" fmla="val 8421"/>
            </a:avLst>
          </a:prstGeom>
          <a:solidFill>
            <a:srgbClr val="0E0E0E"/>
          </a:solidFill>
          <a:ln/>
        </p:spPr>
      </p:sp>
      <p:sp>
        <p:nvSpPr>
          <p:cNvPr id="21" name="Text 16"/>
          <p:cNvSpPr/>
          <p:nvPr/>
        </p:nvSpPr>
        <p:spPr>
          <a:xfrm>
            <a:off x="1097280" y="548640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EE6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MOAT  </a:t>
            </a: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agent runs brand &amp; influencer outreach and closes the deals — automating work that was slow and expensive to do by hand.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1143000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EE6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85800" y="896112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9AA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large, fast-growing wedge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18745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Top-down and bottom-up both point to a multi-billion-dollar opportunity by 2030.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" y="2697480"/>
            <a:ext cx="3352800" cy="3337560"/>
          </a:xfrm>
          <a:prstGeom prst="roundRect">
            <a:avLst>
              <a:gd name="adj" fmla="val 2192"/>
            </a:avLst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971800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9AA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51560" y="3474720"/>
            <a:ext cx="262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~$540B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051560" y="4160520"/>
            <a:ext cx="262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2030 · from $359B in 2025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51560" y="45720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2A2A2A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45720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AA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 8.5%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5120640"/>
            <a:ext cx="262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+ Europe fashion e-commerce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404360" y="2697480"/>
            <a:ext cx="3352800" cy="3337560"/>
          </a:xfrm>
          <a:prstGeom prst="roundRect">
            <a:avLst>
              <a:gd name="adj" fmla="val 2192"/>
            </a:avLst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0120" y="2971800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EE6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770120" y="3474720"/>
            <a:ext cx="262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~$72–110B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770120" y="4160520"/>
            <a:ext cx="262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2030 · from $36–54B in 2025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70120" y="45720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2A2A2A"/>
          </a:solidFill>
          <a:ln/>
        </p:spPr>
      </p:sp>
      <p:sp>
        <p:nvSpPr>
          <p:cNvPr id="17" name="Text 15"/>
          <p:cNvSpPr/>
          <p:nvPr/>
        </p:nvSpPr>
        <p:spPr>
          <a:xfrm>
            <a:off x="4770120" y="45720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E6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 15%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70120" y="5120640"/>
            <a:ext cx="262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Creator-native fashion · 10–15% of TAM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122920" y="2697480"/>
            <a:ext cx="3352800" cy="3337560"/>
          </a:xfrm>
          <a:prstGeom prst="roundRect">
            <a:avLst>
              <a:gd name="adj" fmla="val 2192"/>
            </a:avLst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88680" y="2971800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9AA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488680" y="3474720"/>
            <a:ext cx="262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~$900M–4B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8488680" y="4160520"/>
            <a:ext cx="262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2030 · from $360M–1.6B in 2025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488680" y="45720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2A2A2A"/>
          </a:solidFill>
          <a:ln/>
        </p:spPr>
      </p:sp>
      <p:sp>
        <p:nvSpPr>
          <p:cNvPr id="24" name="Text 22"/>
          <p:cNvSpPr/>
          <p:nvPr/>
        </p:nvSpPr>
        <p:spPr>
          <a:xfrm>
            <a:off x="8488680" y="45720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AA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 20%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488680" y="5120640"/>
            <a:ext cx="262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Emerging-brand pre-order &amp; ambassador · 1–3% of SAM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85800" y="6263640"/>
            <a:ext cx="107899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ECDB · </a:t>
            </a:r>
            <a:r>
              <a:rPr lang="en-US" sz="1100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/>
              </a:rPr>
              <a:t>Mordor Intelligence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</a:t>
            </a:r>
            <a:r>
              <a:rPr lang="en-US" sz="1100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/>
              </a:rPr>
              <a:t>eMarketer US social commerce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</a:t>
            </a:r>
            <a:r>
              <a:rPr lang="en-US" sz="1100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/>
              </a:rPr>
              <a:t>ResearchAndMarkets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43000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66928"/>
            <a:ext cx="1078992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spc="300" dirty="0">
                <a:solidFill>
                  <a:srgbClr val="EE6B1F"/>
                </a:solidFill>
                <a:latin typeface="Arial"/>
              </a:rP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799" y="886968"/>
            <a:ext cx="11016343" cy="11079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GB" sz="3600" b="1" dirty="0">
                <a:solidFill>
                  <a:srgbClr val="3F4897"/>
                </a:solidFill>
                <a:latin typeface="Arial"/>
              </a:rPr>
              <a:t>US counts 32K and EU 50K-70K fashion brands. Listed platforms accommodate under 20%</a:t>
            </a:r>
            <a:endParaRPr sz="3600" b="1" dirty="0">
              <a:solidFill>
                <a:srgbClr val="3F4897"/>
              </a:solidFill>
              <a:latin typeface="Arial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2134430"/>
          <a:ext cx="10789920" cy="3082920"/>
        </p:xfrm>
        <a:graphic>
          <a:graphicData uri="http://schemas.openxmlformats.org/drawingml/2006/table">
            <a:tbl>
              <a:tblPr/>
              <a:tblGrid>
                <a:gridCol w="2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9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99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99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99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99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00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Terra Ferra</a:t>
                      </a:r>
                    </a:p>
                  </a:txBody>
                  <a:tcPr marL="54000" marR="54000" marT="9000" marB="9000" anchor="ctr">
                    <a:solidFill>
                      <a:srgbClr val="3F48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E0E0E"/>
                          </a:solidFill>
                          <a:latin typeface="Arial"/>
                        </a:rPr>
                        <a:t>ShopMy</a:t>
                      </a:r>
                    </a:p>
                  </a:txBody>
                  <a:tcPr marL="54000" marR="54000" marT="9000" marB="9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E0E0E"/>
                          </a:solidFill>
                          <a:latin typeface="Arial"/>
                        </a:rPr>
                        <a:t>LTK</a:t>
                      </a:r>
                    </a:p>
                  </a:txBody>
                  <a:tcPr marL="54000" marR="54000" marT="9000" marB="9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E0E0E"/>
                          </a:solidFill>
                          <a:latin typeface="Arial"/>
                        </a:rPr>
                        <a:t>Wolf &amp; Badger</a:t>
                      </a:r>
                    </a:p>
                  </a:txBody>
                  <a:tcPr marL="54000" marR="54000" marT="9000" marB="9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E0E0E"/>
                          </a:solidFill>
                          <a:latin typeface="Arial"/>
                        </a:rPr>
                        <a:t>Farfetch</a:t>
                      </a:r>
                    </a:p>
                  </a:txBody>
                  <a:tcPr marL="54000" marR="54000" marT="9000" marB="90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sz="1600" b="1" dirty="0">
                          <a:solidFill>
                            <a:srgbClr val="0E0E0E"/>
                          </a:solidFill>
                          <a:latin typeface="Arial"/>
                        </a:rPr>
                        <a:t>Platform type</a:t>
                      </a: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3F4897"/>
                          </a:solidFill>
                          <a:latin typeface="Arial"/>
                        </a:rPr>
                        <a:t>AI-native drops marketplace</a:t>
                      </a:r>
                    </a:p>
                  </a:txBody>
                  <a:tcPr marL="54000" marR="54000" marT="9000" marB="9000" anchor="ctr">
                    <a:solidFill>
                      <a:srgbClr val="ED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Creator affiliate</a:t>
                      </a: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Creator affiliate</a:t>
                      </a: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Small-brand marketplace</a:t>
                      </a: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333333"/>
                          </a:solidFill>
                          <a:latin typeface="Arial"/>
                        </a:rPr>
                        <a:t>Luxury, </a:t>
                      </a:r>
                      <a:endParaRPr lang="en-GB" sz="1600" b="0" dirty="0">
                        <a:solidFill>
                          <a:srgbClr val="333333"/>
                        </a:solidFill>
                        <a:latin typeface="Arial"/>
                      </a:endParaRPr>
                    </a:p>
                    <a:p>
                      <a:pPr algn="ctr"/>
                      <a:r>
                        <a:rPr sz="1600" b="0" dirty="0">
                          <a:solidFill>
                            <a:srgbClr val="333333"/>
                          </a:solidFill>
                          <a:latin typeface="Arial"/>
                        </a:rPr>
                        <a:t>invite-only</a:t>
                      </a: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E0E0E"/>
                          </a:solidFill>
                          <a:latin typeface="Arial"/>
                        </a:rPr>
                        <a:t>Brands onboarded</a:t>
                      </a: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3F4897"/>
                          </a:solidFill>
                          <a:latin typeface="Arial"/>
                        </a:rPr>
                        <a:t>Pre-launch</a:t>
                      </a:r>
                    </a:p>
                  </a:txBody>
                  <a:tcPr marL="54000" marR="54000" marT="9000" marB="900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rgbClr val="333333"/>
                          </a:solidFill>
                          <a:latin typeface="Arial"/>
                        </a:rPr>
                        <a:t>~</a:t>
                      </a:r>
                      <a:r>
                        <a:rPr sz="1600" b="0" dirty="0">
                          <a:solidFill>
                            <a:srgbClr val="333333"/>
                          </a:solidFill>
                          <a:latin typeface="Arial"/>
                        </a:rPr>
                        <a:t>1,200</a:t>
                      </a:r>
                    </a:p>
                  </a:txBody>
                  <a:tcPr marL="54000" marR="54000" marT="9000" marB="900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rgbClr val="333333"/>
                          </a:solidFill>
                          <a:latin typeface="Arial"/>
                        </a:rPr>
                        <a:t>~</a:t>
                      </a:r>
                      <a:r>
                        <a:rPr sz="1600" b="0" dirty="0">
                          <a:solidFill>
                            <a:srgbClr val="333333"/>
                          </a:solidFill>
                          <a:latin typeface="Arial"/>
                        </a:rPr>
                        <a:t>6,000</a:t>
                      </a:r>
                    </a:p>
                  </a:txBody>
                  <a:tcPr marL="54000" marR="54000" marT="9000" marB="900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rgbClr val="333333"/>
                          </a:solidFill>
                          <a:latin typeface="Arial"/>
                        </a:rPr>
                        <a:t>~</a:t>
                      </a:r>
                      <a:r>
                        <a:rPr sz="1600" b="0" dirty="0">
                          <a:solidFill>
                            <a:srgbClr val="333333"/>
                          </a:solidFill>
                          <a:latin typeface="Arial"/>
                        </a:rPr>
                        <a:t>2,000</a:t>
                      </a:r>
                    </a:p>
                  </a:txBody>
                  <a:tcPr marL="54000" marR="54000" marT="9000" marB="900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rgbClr val="333333"/>
                          </a:solidFill>
                          <a:latin typeface="Arial"/>
                        </a:rPr>
                        <a:t>~</a:t>
                      </a:r>
                      <a:r>
                        <a:rPr sz="1600" b="0" dirty="0">
                          <a:solidFill>
                            <a:srgbClr val="333333"/>
                          </a:solidFill>
                          <a:latin typeface="Arial"/>
                        </a:rPr>
                        <a:t>1,400</a:t>
                      </a:r>
                    </a:p>
                  </a:txBody>
                  <a:tcPr marL="54000" marR="54000" marT="9000" marB="900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9930529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lang="en-GB" sz="1600" b="1" dirty="0">
                          <a:solidFill>
                            <a:srgbClr val="0E0E0E"/>
                          </a:solidFill>
                          <a:latin typeface="Arial"/>
                        </a:rPr>
                        <a:t>Platform monthly</a:t>
                      </a:r>
                      <a:r>
                        <a:rPr sz="1600" b="1" dirty="0">
                          <a:solidFill>
                            <a:srgbClr val="0E0E0E"/>
                          </a:solidFill>
                          <a:latin typeface="Arial"/>
                        </a:rPr>
                        <a:t> fee</a:t>
                      </a: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3F4897"/>
                          </a:solidFill>
                          <a:latin typeface="Arial"/>
                        </a:rPr>
                        <a:t>$500</a:t>
                      </a:r>
                      <a:endParaRPr lang="en-GB" sz="1600" b="1" dirty="0">
                        <a:solidFill>
                          <a:srgbClr val="3F4897"/>
                        </a:solidFill>
                        <a:latin typeface="Arial"/>
                      </a:endParaRPr>
                    </a:p>
                  </a:txBody>
                  <a:tcPr marL="54000" marR="54000" marT="9000" marB="9000" anchor="ctr">
                    <a:solidFill>
                      <a:srgbClr val="ED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333333"/>
                          </a:solidFill>
                          <a:latin typeface="Arial"/>
                        </a:rPr>
                        <a:t>$</a:t>
                      </a:r>
                      <a:r>
                        <a:rPr lang="en-GB" sz="1600" b="0" dirty="0">
                          <a:solidFill>
                            <a:srgbClr val="333333"/>
                          </a:solidFill>
                          <a:latin typeface="Arial"/>
                        </a:rPr>
                        <a:t>399 - </a:t>
                      </a:r>
                      <a:r>
                        <a:rPr sz="1600" b="0" dirty="0">
                          <a:solidFill>
                            <a:srgbClr val="333333"/>
                          </a:solidFill>
                          <a:latin typeface="Arial"/>
                        </a:rPr>
                        <a:t>$2,</a:t>
                      </a:r>
                      <a:r>
                        <a:rPr lang="en-GB" sz="1600" b="0" dirty="0">
                          <a:solidFill>
                            <a:srgbClr val="333333"/>
                          </a:solidFill>
                          <a:latin typeface="Arial"/>
                        </a:rPr>
                        <a:t>800</a:t>
                      </a:r>
                      <a:endParaRPr sz="1600" b="0" dirty="0">
                        <a:solidFill>
                          <a:srgbClr val="333333"/>
                        </a:solidFill>
                        <a:latin typeface="Arial"/>
                      </a:endParaRPr>
                    </a:p>
                  </a:txBody>
                  <a:tcPr marL="40000" marR="40000" marT="6000" marB="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rgbClr val="333333"/>
                          </a:solidFill>
                          <a:latin typeface="Arial"/>
                        </a:rPr>
                        <a:t>Free -manual  ~$400 - $4,100</a:t>
                      </a:r>
                      <a:endParaRPr sz="1600" b="0" dirty="0">
                        <a:solidFill>
                          <a:srgbClr val="333333"/>
                        </a:solidFill>
                        <a:latin typeface="Arial"/>
                      </a:endParaRPr>
                    </a:p>
                  </a:txBody>
                  <a:tcPr marL="40000" marR="40000" marT="6000" marB="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333333"/>
                          </a:solidFill>
                          <a:latin typeface="Arial"/>
                        </a:rPr>
                        <a:t>$150</a:t>
                      </a: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333333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E0E0E"/>
                          </a:solidFill>
                          <a:latin typeface="Arial"/>
                        </a:rPr>
                        <a:t>Onboarding fee</a:t>
                      </a: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3F4897"/>
                          </a:solidFill>
                          <a:latin typeface="Arial"/>
                        </a:rPr>
                        <a:t>$</a:t>
                      </a:r>
                      <a:r>
                        <a:rPr lang="en-GB" sz="1600" b="1" dirty="0">
                          <a:solidFill>
                            <a:srgbClr val="3F4897"/>
                          </a:solidFill>
                          <a:latin typeface="Arial"/>
                        </a:rPr>
                        <a:t>250</a:t>
                      </a:r>
                      <a:endParaRPr sz="1600" b="1" dirty="0">
                        <a:solidFill>
                          <a:srgbClr val="3F4897"/>
                        </a:solidFill>
                        <a:latin typeface="Arial"/>
                      </a:endParaRPr>
                    </a:p>
                  </a:txBody>
                  <a:tcPr marL="54000" marR="54000" marT="9000" marB="9000" anchor="ctr">
                    <a:solidFill>
                      <a:srgbClr val="ED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$0</a:t>
                      </a: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$2,400</a:t>
                      </a: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$1,000–5,000+</a:t>
                      </a: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E0E0E"/>
                          </a:solidFill>
                          <a:latin typeface="Arial"/>
                        </a:rPr>
                        <a:t>Commission to platform</a:t>
                      </a: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3F4897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54000" marR="54000" marT="9000" marB="9000" anchor="ctr">
                    <a:solidFill>
                      <a:srgbClr val="ED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rgbClr val="333333"/>
                          </a:solidFill>
                          <a:latin typeface="Arial"/>
                        </a:rPr>
                        <a:t>~4</a:t>
                      </a:r>
                      <a:r>
                        <a:rPr sz="1600" b="0" dirty="0">
                          <a:solidFill>
                            <a:srgbClr val="333333"/>
                          </a:solidFill>
                          <a:latin typeface="Arial"/>
                        </a:rPr>
                        <a:t>%</a:t>
                      </a: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333333"/>
                          </a:solidFill>
                          <a:latin typeface="Arial"/>
                        </a:rPr>
                        <a:t>~5–10%</a:t>
                      </a: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333333"/>
                          </a:solidFill>
                          <a:latin typeface="Arial"/>
                        </a:rPr>
                        <a:t>25% </a:t>
                      </a:r>
                      <a:endParaRPr lang="en-GB" sz="1600" b="0" dirty="0">
                        <a:solidFill>
                          <a:srgbClr val="333333"/>
                        </a:solidFill>
                        <a:latin typeface="Arial"/>
                      </a:endParaRPr>
                    </a:p>
                    <a:p>
                      <a:pPr algn="ctr"/>
                      <a:r>
                        <a:rPr sz="1050" b="0" dirty="0">
                          <a:solidFill>
                            <a:srgbClr val="333333"/>
                          </a:solidFill>
                          <a:latin typeface="Arial"/>
                        </a:rPr>
                        <a:t>(</a:t>
                      </a:r>
                      <a:r>
                        <a:rPr lang="en-GB" sz="1050" b="0" dirty="0">
                          <a:solidFill>
                            <a:srgbClr val="333333"/>
                          </a:solidFill>
                          <a:latin typeface="Arial"/>
                        </a:rPr>
                        <a:t>up to </a:t>
                      </a:r>
                      <a:r>
                        <a:rPr sz="1050" b="0" dirty="0">
                          <a:solidFill>
                            <a:srgbClr val="333333"/>
                          </a:solidFill>
                          <a:latin typeface="Arial"/>
                        </a:rPr>
                        <a:t>52% </a:t>
                      </a:r>
                      <a:r>
                        <a:rPr lang="en-GB" sz="1050" b="0" dirty="0">
                          <a:solidFill>
                            <a:srgbClr val="333333"/>
                          </a:solidFill>
                          <a:latin typeface="Arial"/>
                        </a:rPr>
                        <a:t>after forced markdown</a:t>
                      </a:r>
                      <a:r>
                        <a:rPr sz="1050" b="0" dirty="0">
                          <a:solidFill>
                            <a:srgbClr val="333333"/>
                          </a:solidFill>
                          <a:latin typeface="Arial"/>
                        </a:rPr>
                        <a:t>)</a:t>
                      </a:r>
                      <a:endParaRPr sz="1600" b="0" dirty="0">
                        <a:solidFill>
                          <a:srgbClr val="333333"/>
                        </a:solidFill>
                        <a:latin typeface="Arial"/>
                      </a:endParaRP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25–33%</a:t>
                      </a: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sz="1600" b="1" dirty="0">
                          <a:solidFill>
                            <a:srgbClr val="0E0E0E"/>
                          </a:solidFill>
                          <a:latin typeface="Arial"/>
                        </a:rPr>
                        <a:t>Influencer earns (% of revenue)</a:t>
                      </a: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3F4897"/>
                          </a:solidFill>
                          <a:latin typeface="Arial"/>
                        </a:rPr>
                        <a:t>10–20%</a:t>
                      </a:r>
                    </a:p>
                  </a:txBody>
                  <a:tcPr marL="54000" marR="54000" marT="9000" marB="9000" anchor="ctr">
                    <a:solidFill>
                      <a:srgbClr val="ED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10–30%</a:t>
                      </a: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10–25%</a:t>
                      </a: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B4B4B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B4B4B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85800" y="5771072"/>
            <a:ext cx="10789920" cy="520000"/>
          </a:xfrm>
          <a:prstGeom prst="rect">
            <a:avLst/>
          </a:prstGeom>
          <a:solidFill>
            <a:srgbClr val="141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0" tIns="120000" rIns="360000" bIns="120000" rtlCol="0" anchor="ctr"/>
          <a:lstStyle/>
          <a:p>
            <a:pPr algn="ctr"/>
            <a:r>
              <a:rPr lang="en-GB" b="1" dirty="0">
                <a:solidFill>
                  <a:srgbClr val="EE6B1F"/>
                </a:solidFill>
                <a:latin typeface="Arial"/>
              </a:rPr>
              <a:t>TERRA FERRA TO WIN </a:t>
            </a:r>
            <a:r>
              <a:rPr lang="en-GB" sz="1800" b="1" dirty="0">
                <a:solidFill>
                  <a:srgbClr val="FFFFFF"/>
                </a:solidFill>
                <a:latin typeface="Arial"/>
              </a:rPr>
              <a:t>with lower fees, inclusivity and AI-native technology</a:t>
            </a:r>
            <a:endParaRPr sz="18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457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600">
                <a:solidFill>
                  <a:srgbClr val="6B6B6B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66928"/>
            <a:ext cx="1078992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GB" sz="1600" b="1" spc="300" dirty="0">
                <a:solidFill>
                  <a:srgbClr val="EE6B1F"/>
                </a:solidFill>
                <a:latin typeface="Arial"/>
              </a:rPr>
              <a:t>BUSINESS MODEL DIFFERENTIATOR </a:t>
            </a:r>
            <a:endParaRPr sz="1600" b="1" spc="300" dirty="0">
              <a:solidFill>
                <a:srgbClr val="EE6B1F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896112"/>
            <a:ext cx="10789920" cy="11695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800" b="1" dirty="0">
                <a:solidFill>
                  <a:srgbClr val="3F4897"/>
                </a:solidFill>
                <a:latin typeface="Arial"/>
              </a:rPr>
              <a:t>Built for </a:t>
            </a:r>
            <a:r>
              <a:rPr lang="en-GB" sz="3800" b="1" dirty="0">
                <a:solidFill>
                  <a:srgbClr val="3F4897"/>
                </a:solidFill>
                <a:latin typeface="Arial"/>
              </a:rPr>
              <a:t>enabling drops &amp; emerging </a:t>
            </a:r>
            <a:r>
              <a:rPr sz="3800" b="1" dirty="0">
                <a:solidFill>
                  <a:srgbClr val="3F4897"/>
                </a:solidFill>
                <a:latin typeface="Arial"/>
              </a:rPr>
              <a:t>brands others overlook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5286314"/>
              </p:ext>
            </p:extLst>
          </p:nvPr>
        </p:nvGraphicFramePr>
        <p:xfrm>
          <a:off x="685800" y="2080000"/>
          <a:ext cx="10789920" cy="3880000"/>
        </p:xfrm>
        <a:graphic>
          <a:graphicData uri="http://schemas.openxmlformats.org/drawingml/2006/table">
            <a:tbl>
              <a:tblPr/>
              <a:tblGrid>
                <a:gridCol w="27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9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99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99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99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99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80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Terra Ferra</a:t>
                      </a:r>
                    </a:p>
                  </a:txBody>
                  <a:tcPr marL="54000" marR="54000" marT="9000" marB="9000" anchor="ctr">
                    <a:solidFill>
                      <a:srgbClr val="3F48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E0E0E"/>
                          </a:solidFill>
                          <a:latin typeface="Arial"/>
                        </a:rPr>
                        <a:t>LTK</a:t>
                      </a:r>
                    </a:p>
                  </a:txBody>
                  <a:tcPr marL="54000" marR="54000" marT="9000" marB="9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E0E0E"/>
                          </a:solidFill>
                          <a:latin typeface="Arial"/>
                        </a:rPr>
                        <a:t>ShopMy</a:t>
                      </a:r>
                    </a:p>
                  </a:txBody>
                  <a:tcPr marL="54000" marR="54000" marT="9000" marB="9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E0E0E"/>
                          </a:solidFill>
                          <a:latin typeface="Arial"/>
                        </a:rPr>
                        <a:t>TikTok Shop</a:t>
                      </a:r>
                    </a:p>
                  </a:txBody>
                  <a:tcPr marL="54000" marR="54000" marT="9000" marB="9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E0E0E"/>
                          </a:solidFill>
                          <a:latin typeface="Arial"/>
                        </a:rPr>
                        <a:t>Instagram</a:t>
                      </a:r>
                    </a:p>
                  </a:txBody>
                  <a:tcPr marL="54000" marR="54000" marT="9000" marB="90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000">
                <a:tc>
                  <a:txBody>
                    <a:bodyPr/>
                    <a:lstStyle/>
                    <a:p>
                      <a:pPr algn="l"/>
                      <a:r>
                        <a:rPr sz="1600" b="1" dirty="0">
                          <a:solidFill>
                            <a:srgbClr val="0E0E0E"/>
                          </a:solidFill>
                          <a:latin typeface="Arial"/>
                        </a:rPr>
                        <a:t>Built for</a:t>
                      </a:r>
                      <a:r>
                        <a:rPr lang="en-GB" sz="1600" b="1" dirty="0">
                          <a:solidFill>
                            <a:srgbClr val="0E0E0E"/>
                          </a:solidFill>
                          <a:latin typeface="Arial"/>
                        </a:rPr>
                        <a:t> brands</a:t>
                      </a:r>
                      <a:endParaRPr sz="1600" b="1" dirty="0">
                        <a:solidFill>
                          <a:srgbClr val="0E0E0E"/>
                        </a:solidFill>
                        <a:latin typeface="Arial"/>
                      </a:endParaRP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3F4897"/>
                          </a:solidFill>
                          <a:latin typeface="Arial"/>
                        </a:rPr>
                        <a:t>Emerging</a:t>
                      </a:r>
                    </a:p>
                  </a:txBody>
                  <a:tcPr marL="54000" marR="54000" marT="9000" marB="9000" anchor="ctr">
                    <a:solidFill>
                      <a:srgbClr val="ED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rgbClr val="333333"/>
                          </a:solidFill>
                          <a:latin typeface="Arial"/>
                        </a:rPr>
                        <a:t>Established</a:t>
                      </a:r>
                      <a:endParaRPr sz="1600" b="0" dirty="0">
                        <a:solidFill>
                          <a:srgbClr val="333333"/>
                        </a:solidFill>
                        <a:latin typeface="Arial"/>
                      </a:endParaRP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rgbClr val="333333"/>
                          </a:solidFill>
                          <a:latin typeface="Arial"/>
                        </a:rPr>
                        <a:t>Established</a:t>
                      </a: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333333"/>
                          </a:solidFill>
                          <a:latin typeface="Arial"/>
                        </a:rPr>
                        <a:t>All</a:t>
                      </a: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333333"/>
                          </a:solidFill>
                          <a:latin typeface="Arial"/>
                        </a:rPr>
                        <a:t>All</a:t>
                      </a: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000">
                <a:tc>
                  <a:txBody>
                    <a:bodyPr/>
                    <a:lstStyle/>
                    <a:p>
                      <a:pPr algn="l"/>
                      <a:r>
                        <a:rPr sz="1600" b="1" dirty="0">
                          <a:solidFill>
                            <a:srgbClr val="0E0E0E"/>
                          </a:solidFill>
                          <a:latin typeface="Arial"/>
                        </a:rPr>
                        <a:t>Emerging brands</a:t>
                      </a:r>
                      <a:r>
                        <a:rPr lang="en-GB" sz="1600" b="1" dirty="0">
                          <a:solidFill>
                            <a:srgbClr val="0E0E0E"/>
                          </a:solidFill>
                          <a:latin typeface="Arial"/>
                        </a:rPr>
                        <a:t> focus</a:t>
                      </a:r>
                      <a:endParaRPr sz="1600" b="1" dirty="0">
                        <a:solidFill>
                          <a:srgbClr val="0E0E0E"/>
                        </a:solidFill>
                        <a:latin typeface="Arial"/>
                      </a:endParaRP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3F4897"/>
                          </a:solidFill>
                          <a:latin typeface="Arial"/>
                        </a:rPr>
                        <a:t> </a:t>
                      </a:r>
                      <a:r>
                        <a:rPr lang="en-GB" sz="1600" b="1" dirty="0">
                          <a:solidFill>
                            <a:srgbClr val="3F4897"/>
                          </a:solidFill>
                          <a:latin typeface="Arial"/>
                        </a:rPr>
                        <a:t>C</a:t>
                      </a:r>
                      <a:r>
                        <a:rPr sz="1600" b="1" dirty="0">
                          <a:solidFill>
                            <a:srgbClr val="3F4897"/>
                          </a:solidFill>
                          <a:latin typeface="Arial"/>
                        </a:rPr>
                        <a:t>ore</a:t>
                      </a:r>
                    </a:p>
                  </a:txBody>
                  <a:tcPr marL="54000" marR="54000" marT="9000" marB="9000" anchor="ctr">
                    <a:solidFill>
                      <a:srgbClr val="ED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B4B4B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B4B4B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B4B4B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B4B4B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0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E0E0E"/>
                          </a:solidFill>
                          <a:latin typeface="Arial"/>
                        </a:rPr>
                        <a:t>Niche influencers · no min</a:t>
                      </a: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3F4897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54000" marR="54000" marT="9000" marB="9000" anchor="ctr">
                    <a:solidFill>
                      <a:srgbClr val="ED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333333"/>
                          </a:solidFill>
                          <a:latin typeface="Arial"/>
                        </a:rPr>
                        <a:t>5K+ </a:t>
                      </a: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333333"/>
                          </a:solidFill>
                          <a:latin typeface="Arial"/>
                        </a:rPr>
                        <a:t>1K+</a:t>
                      </a: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333333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0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E0E0E"/>
                          </a:solidFill>
                          <a:latin typeface="Arial"/>
                        </a:rPr>
                        <a:t>Sells stock + drops</a:t>
                      </a: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rgbClr val="3F4897"/>
                          </a:solidFill>
                          <a:latin typeface="Arial"/>
                        </a:rPr>
                        <a:t>S</a:t>
                      </a:r>
                      <a:r>
                        <a:rPr sz="1600" b="1" dirty="0">
                          <a:solidFill>
                            <a:srgbClr val="3F4897"/>
                          </a:solidFill>
                          <a:latin typeface="Arial"/>
                        </a:rPr>
                        <a:t>tock + drops</a:t>
                      </a:r>
                    </a:p>
                  </a:txBody>
                  <a:tcPr marL="54000" marR="54000" marT="9000" marB="9000" anchor="ctr">
                    <a:solidFill>
                      <a:srgbClr val="ED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Stock only</a:t>
                      </a: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Stock only</a:t>
                      </a: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Stock only</a:t>
                      </a: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Stock only</a:t>
                      </a: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0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E0E0E"/>
                          </a:solidFill>
                          <a:latin typeface="Arial"/>
                        </a:rPr>
                        <a:t>AI virtual try-on</a:t>
                      </a: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3F4897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54000" marR="54000" marT="9000" marB="9000" anchor="ctr">
                    <a:solidFill>
                      <a:srgbClr val="ED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B4B4B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B4B4B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B4B4B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B4B4B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80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E0E0E"/>
                          </a:solidFill>
                          <a:latin typeface="Arial"/>
                        </a:rPr>
                        <a:t>AI style discovery</a:t>
                      </a: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rgbClr val="3F4897"/>
                          </a:solidFill>
                          <a:latin typeface="Arial"/>
                        </a:rPr>
                        <a:t>N</a:t>
                      </a:r>
                      <a:r>
                        <a:rPr sz="1600" b="1" dirty="0" err="1">
                          <a:solidFill>
                            <a:srgbClr val="3F4897"/>
                          </a:solidFill>
                          <a:latin typeface="Arial"/>
                        </a:rPr>
                        <a:t>ative</a:t>
                      </a:r>
                      <a:endParaRPr sz="1600" b="1" dirty="0">
                        <a:solidFill>
                          <a:srgbClr val="3F4897"/>
                        </a:solidFill>
                        <a:latin typeface="Arial"/>
                      </a:endParaRPr>
                    </a:p>
                  </a:txBody>
                  <a:tcPr marL="54000" marR="54000" marT="9000" marB="9000" anchor="ctr">
                    <a:solidFill>
                      <a:srgbClr val="ED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B4B4B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Partial</a:t>
                      </a: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Partial</a:t>
                      </a: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Partial</a:t>
                      </a: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80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E0E0E"/>
                          </a:solidFill>
                          <a:latin typeface="Arial"/>
                        </a:rPr>
                        <a:t>Tailored storefront</a:t>
                      </a: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3F4897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54000" marR="54000" marT="9000" marB="9000" anchor="ctr">
                    <a:solidFill>
                      <a:srgbClr val="ED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B4B4B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B4B4B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Partial</a:t>
                      </a: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Partial</a:t>
                      </a: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80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E0E0E"/>
                          </a:solidFill>
                          <a:latin typeface="Arial"/>
                        </a:rPr>
                        <a:t>Checkout</a:t>
                      </a: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3F4897"/>
                          </a:solidFill>
                          <a:latin typeface="Arial"/>
                        </a:rPr>
                        <a:t>On platform</a:t>
                      </a:r>
                    </a:p>
                  </a:txBody>
                  <a:tcPr marL="54000" marR="54000" marT="9000" marB="9000" anchor="ctr">
                    <a:solidFill>
                      <a:srgbClr val="ED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On brand site</a:t>
                      </a: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On brand site</a:t>
                      </a: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In-app</a:t>
                      </a: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In-app</a:t>
                      </a: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8000">
                <a:tc>
                  <a:txBody>
                    <a:bodyPr/>
                    <a:lstStyle/>
                    <a:p>
                      <a:pPr algn="l"/>
                      <a:r>
                        <a:rPr sz="1600" b="1" dirty="0">
                          <a:solidFill>
                            <a:srgbClr val="0E0E0E"/>
                          </a:solidFill>
                          <a:latin typeface="Arial"/>
                        </a:rPr>
                        <a:t>Geography</a:t>
                      </a: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3F4897"/>
                          </a:solidFill>
                          <a:latin typeface="Arial"/>
                        </a:rPr>
                        <a:t>Global</a:t>
                      </a:r>
                    </a:p>
                  </a:txBody>
                  <a:tcPr marL="54000" marR="54000" marT="9000" marB="9000" anchor="ctr">
                    <a:solidFill>
                      <a:srgbClr val="ED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US / UK</a:t>
                      </a: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US</a:t>
                      </a: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Global</a:t>
                      </a: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333333"/>
                          </a:solidFill>
                          <a:latin typeface="Arial"/>
                        </a:rPr>
                        <a:t>Global</a:t>
                      </a:r>
                    </a:p>
                  </a:txBody>
                  <a:tcPr marL="54000" marR="54000" marT="9000" marB="9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430000" y="6400800"/>
            <a:ext cx="457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600">
                <a:solidFill>
                  <a:srgbClr val="6B6B6B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EE6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3F48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– Activate - Compound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073473"/>
            <a:ext cx="3383280" cy="2788920"/>
          </a:xfrm>
          <a:prstGeom prst="roundRect">
            <a:avLst>
              <a:gd name="adj" fmla="val 3279"/>
            </a:avLst>
          </a:prstGeom>
          <a:solidFill>
            <a:srgbClr val="F4F4F4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2384369"/>
            <a:ext cx="566928" cy="566928"/>
          </a:xfrm>
          <a:prstGeom prst="ellipse">
            <a:avLst/>
          </a:prstGeom>
          <a:solidFill>
            <a:srgbClr val="EE6B1F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238436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32688" y="3097601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3F48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32688" y="3554801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E6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FOUNDING COHORT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32688" y="3920561"/>
            <a:ext cx="2798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5–10 emerging brands</a:t>
            </a:r>
          </a:p>
          <a:p>
            <a:pPr marL="285750" indent="-285750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444444"/>
                </a:solidFill>
                <a:latin typeface="Arial" pitchFamily="34" charset="0"/>
                <a:cs typeface="Arial" pitchFamily="34" charset="-120"/>
              </a:rPr>
              <a:t>Europe based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89120" y="2073473"/>
            <a:ext cx="3383280" cy="2788920"/>
          </a:xfrm>
          <a:prstGeom prst="roundRect">
            <a:avLst>
              <a:gd name="adj" fmla="val 3279"/>
            </a:avLst>
          </a:prstGeom>
          <a:solidFill>
            <a:srgbClr val="F4F4F4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81728" y="2384369"/>
            <a:ext cx="566928" cy="566928"/>
          </a:xfrm>
          <a:prstGeom prst="ellipse">
            <a:avLst/>
          </a:prstGeom>
          <a:solidFill>
            <a:srgbClr val="EE6B1F"/>
          </a:solidFill>
          <a:ln/>
        </p:spPr>
      </p:sp>
      <p:sp>
        <p:nvSpPr>
          <p:cNvPr id="13" name="Text 11"/>
          <p:cNvSpPr/>
          <p:nvPr/>
        </p:nvSpPr>
        <p:spPr>
          <a:xfrm>
            <a:off x="4681728" y="238436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81728" y="3097601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3F48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681728" y="3554801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E6B1F"/>
                </a:solidFill>
                <a:latin typeface="Arial" pitchFamily="34" charset="0"/>
                <a:cs typeface="Arial" pitchFamily="34" charset="-120"/>
              </a:rPr>
              <a:t>BRANDS AMBASSADORS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681728" y="3920561"/>
            <a:ext cx="2798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Overlapping influencers audience creating the vibe &amp; demand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38160" y="2073473"/>
            <a:ext cx="3383280" cy="2788920"/>
          </a:xfrm>
          <a:prstGeom prst="roundRect">
            <a:avLst>
              <a:gd name="adj" fmla="val 3279"/>
            </a:avLst>
          </a:prstGeom>
          <a:solidFill>
            <a:srgbClr val="F4F4F4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30768" y="2384369"/>
            <a:ext cx="566928" cy="566928"/>
          </a:xfrm>
          <a:prstGeom prst="ellipse">
            <a:avLst/>
          </a:prstGeom>
          <a:solidFill>
            <a:srgbClr val="EE6B1F"/>
          </a:solidFill>
          <a:ln/>
        </p:spPr>
      </p:sp>
      <p:sp>
        <p:nvSpPr>
          <p:cNvPr id="19" name="Text 17"/>
          <p:cNvSpPr/>
          <p:nvPr/>
        </p:nvSpPr>
        <p:spPr>
          <a:xfrm>
            <a:off x="8430768" y="238436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430768" y="3097601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3F48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8430768" y="3554801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E6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VIRAL LOOP + AI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430768" y="3920561"/>
            <a:ext cx="2798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shared try-on pulls in new consumers, influencers and brands. </a:t>
            </a:r>
          </a:p>
          <a:p>
            <a:pPr marL="285750" indent="-285750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444444"/>
                </a:solidFill>
                <a:latin typeface="Arial" pitchFamily="34" charset="0"/>
                <a:cs typeface="Arial" pitchFamily="34" charset="-120"/>
              </a:rPr>
              <a:t>AI fuels the loop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032504" y="3147893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E6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781544" y="3147893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E6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640080" y="5182433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4F4F4"/>
          </a:solidFill>
          <a:ln/>
        </p:spPr>
      </p:sp>
      <p:sp>
        <p:nvSpPr>
          <p:cNvPr id="26" name="Text 24"/>
          <p:cNvSpPr/>
          <p:nvPr/>
        </p:nvSpPr>
        <p:spPr>
          <a:xfrm>
            <a:off x="932688" y="5182433"/>
            <a:ext cx="102961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kern="0" spc="150" dirty="0">
                <a:solidFill>
                  <a:srgbClr val="EE6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   </a:t>
            </a: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network intros · AI influencer sourcing · Organic share loop. </a:t>
            </a:r>
            <a:endParaRPr lang="en-US" sz="1300" dirty="0">
              <a:solidFill>
                <a:srgbClr val="444444"/>
              </a:solidFill>
              <a:latin typeface="Arial" pitchFamily="34" charset="0"/>
              <a:cs typeface="Arial" pitchFamily="34" charset="-12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EE6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85800" y="896112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3F48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Operators who've built retail</a:t>
            </a:r>
            <a:endParaRPr lang="en-US" sz="38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3F48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creator economy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2514600"/>
            <a:ext cx="1997984" cy="3703320"/>
          </a:xfrm>
          <a:prstGeom prst="roundRect">
            <a:avLst>
              <a:gd name="adj" fmla="val 2605"/>
            </a:avLst>
          </a:prstGeom>
          <a:solidFill>
            <a:srgbClr val="F4F4F4"/>
          </a:solidFill>
          <a:ln/>
        </p:spPr>
      </p:sp>
      <p:pic>
        <p:nvPicPr>
          <p:cNvPr id="5" name="Image 0" descr="/tmp/tf/icons/olg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872" y="2743200"/>
            <a:ext cx="1005840" cy="100584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3886200"/>
            <a:ext cx="199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Olga Bressers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85800" y="4416552"/>
            <a:ext cx="199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EE6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&amp; </a:t>
            </a:r>
          </a:p>
          <a:p>
            <a:pPr marL="0" indent="0" algn="ctr">
              <a:buNone/>
            </a:pPr>
            <a:r>
              <a:rPr lang="en-US" sz="1200" b="1" kern="0" spc="100" dirty="0">
                <a:solidFill>
                  <a:srgbClr val="EE6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CO-FOUNDER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5800" y="4800600"/>
            <a:ext cx="17579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cs typeface="Arial" pitchFamily="34" charset="-120"/>
              </a:rPr>
              <a:t>E-commerce, operations &amp; transformation at Richemont, Adidas, Nike on EU scale. Ran a €150M P&amp;L </a:t>
            </a:r>
          </a:p>
        </p:txBody>
      </p:sp>
      <p:sp>
        <p:nvSpPr>
          <p:cNvPr id="9" name="Shape 6"/>
          <p:cNvSpPr/>
          <p:nvPr/>
        </p:nvSpPr>
        <p:spPr>
          <a:xfrm>
            <a:off x="2883784" y="2514600"/>
            <a:ext cx="1997984" cy="3703320"/>
          </a:xfrm>
          <a:prstGeom prst="roundRect">
            <a:avLst>
              <a:gd name="adj" fmla="val 2605"/>
            </a:avLst>
          </a:prstGeom>
          <a:solidFill>
            <a:srgbClr val="F4F4F4"/>
          </a:solidFill>
          <a:ln/>
        </p:spPr>
      </p:sp>
      <p:pic>
        <p:nvPicPr>
          <p:cNvPr id="10" name="Image Khrushchev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856" y="2743200"/>
            <a:ext cx="1005840" cy="1005840"/>
          </a:xfrm>
          <a:prstGeom prst="ellipse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883784" y="3886200"/>
            <a:ext cx="199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Khrushchev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2883784" y="4416552"/>
            <a:ext cx="199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kern="0" spc="100" dirty="0">
                <a:solidFill>
                  <a:srgbClr val="EE6B1F"/>
                </a:solidFill>
                <a:latin typeface="Arial" pitchFamily="34" charset="0"/>
                <a:cs typeface="Arial" pitchFamily="34" charset="-120"/>
              </a:rPr>
              <a:t>CTO &amp; </a:t>
            </a:r>
          </a:p>
          <a:p>
            <a:pPr algn="ctr"/>
            <a:r>
              <a:rPr lang="en-US" sz="1200" b="1" kern="0" spc="100" dirty="0">
                <a:solidFill>
                  <a:srgbClr val="EE6B1F"/>
                </a:solidFill>
                <a:latin typeface="Arial" pitchFamily="34" charset="0"/>
                <a:cs typeface="Arial" pitchFamily="34" charset="-120"/>
              </a:rPr>
              <a:t>CO-FOUNDER</a:t>
            </a:r>
          </a:p>
        </p:txBody>
      </p:sp>
      <p:sp>
        <p:nvSpPr>
          <p:cNvPr id="14" name="Text 11"/>
          <p:cNvSpPr/>
          <p:nvPr/>
        </p:nvSpPr>
        <p:spPr>
          <a:xfrm>
            <a:off x="3003784" y="4800600"/>
            <a:ext cx="17579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444444"/>
                </a:solidFill>
                <a:latin typeface="Arial" pitchFamily="34" charset="0"/>
                <a:cs typeface="Arial" pitchFamily="34" charset="-120"/>
              </a:rPr>
              <a:t>Founder of MVP Lab — 100+ MVPs built 0→1. Ex-Aviasales / </a:t>
            </a:r>
            <a:r>
              <a:rPr lang="en-US" sz="1200" dirty="0" err="1">
                <a:solidFill>
                  <a:srgbClr val="444444"/>
                </a:solidFill>
                <a:latin typeface="Arial" pitchFamily="34" charset="0"/>
                <a:cs typeface="Arial" pitchFamily="34" charset="-120"/>
              </a:rPr>
              <a:t>Jetradar</a:t>
            </a:r>
            <a:r>
              <a:rPr lang="en-US" sz="1200" dirty="0">
                <a:solidFill>
                  <a:srgbClr val="444444"/>
                </a:solidFill>
                <a:latin typeface="Arial" pitchFamily="34" charset="0"/>
                <a:cs typeface="Arial" pitchFamily="34" charset="-120"/>
              </a:rPr>
              <a:t>.</a:t>
            </a:r>
          </a:p>
        </p:txBody>
      </p:sp>
      <p:sp>
        <p:nvSpPr>
          <p:cNvPr id="15" name="Shape 12"/>
          <p:cNvSpPr/>
          <p:nvPr/>
        </p:nvSpPr>
        <p:spPr>
          <a:xfrm>
            <a:off x="5081768" y="2514600"/>
            <a:ext cx="1997984" cy="3703320"/>
          </a:xfrm>
          <a:prstGeom prst="roundRect">
            <a:avLst>
              <a:gd name="adj" fmla="val 2605"/>
            </a:avLst>
          </a:prstGeom>
          <a:solidFill>
            <a:srgbClr val="F4F4F4"/>
          </a:solidFill>
          <a:ln/>
        </p:spPr>
      </p:sp>
      <p:pic>
        <p:nvPicPr>
          <p:cNvPr id="16" name="Image 1" descr="/tmp/tf/icons/maxi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0" y="2743200"/>
            <a:ext cx="1005840" cy="1005840"/>
          </a:xfrm>
          <a:prstGeom prst="ellipse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081768" y="3886200"/>
            <a:ext cx="199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 Nogotkov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5081768" y="4416552"/>
            <a:ext cx="199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r>
              <a:rPr lang="en-US" sz="1200" b="1" kern="0" spc="100" dirty="0">
                <a:solidFill>
                  <a:srgbClr val="EE6B1F"/>
                </a:solidFill>
                <a:latin typeface="Arial" pitchFamily="34" charset="0"/>
                <a:cs typeface="Arial" pitchFamily="34" charset="-120"/>
              </a:rPr>
              <a:t>STRATEGY &amp; </a:t>
            </a:r>
          </a:p>
          <a:p>
            <a:pPr indent="0" algn="ctr">
              <a:buNone/>
            </a:pPr>
            <a:r>
              <a:rPr lang="en-US" sz="1200" b="1" kern="0" spc="100" dirty="0">
                <a:solidFill>
                  <a:srgbClr val="EE6B1F"/>
                </a:solidFill>
                <a:latin typeface="Arial" pitchFamily="34" charset="0"/>
                <a:cs typeface="Arial" pitchFamily="34" charset="-120"/>
              </a:rPr>
              <a:t>CO-FOUNDER </a:t>
            </a:r>
          </a:p>
        </p:txBody>
      </p:sp>
      <p:sp>
        <p:nvSpPr>
          <p:cNvPr id="19" name="Text 15"/>
          <p:cNvSpPr/>
          <p:nvPr/>
        </p:nvSpPr>
        <p:spPr>
          <a:xfrm>
            <a:off x="5201768" y="4800600"/>
            <a:ext cx="17579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cs typeface="Arial" pitchFamily="34" charset="-120"/>
              </a:rPr>
              <a:t>Built Svyaznoy (3,300+ stores) &amp; Pandora Russia (0→200+ stores, ~$80M EBITDA). Forbes Russia.</a:t>
            </a:r>
          </a:p>
        </p:txBody>
      </p:sp>
      <p:sp>
        <p:nvSpPr>
          <p:cNvPr id="20" name="Shape 16"/>
          <p:cNvSpPr/>
          <p:nvPr/>
        </p:nvSpPr>
        <p:spPr>
          <a:xfrm>
            <a:off x="9477736" y="2514600"/>
            <a:ext cx="1997984" cy="3703320"/>
          </a:xfrm>
          <a:prstGeom prst="roundRect">
            <a:avLst>
              <a:gd name="adj" fmla="val 2605"/>
            </a:avLst>
          </a:prstGeom>
          <a:solidFill>
            <a:srgbClr val="F4F4F4"/>
          </a:solidFill>
          <a:ln/>
        </p:spPr>
      </p:sp>
      <p:pic>
        <p:nvPicPr>
          <p:cNvPr id="21" name="Image 2" descr="/tmp/tf/icons/ale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73808" y="2743200"/>
            <a:ext cx="1005840" cy="1005840"/>
          </a:xfrm>
          <a:prstGeom prst="ellipse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477736" y="3886200"/>
            <a:ext cx="199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Hofmann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9477736" y="4416552"/>
            <a:ext cx="199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r>
              <a:rPr lang="en-US" sz="1200" b="1" kern="0" spc="100" dirty="0">
                <a:solidFill>
                  <a:srgbClr val="EE6B1F"/>
                </a:solidFill>
                <a:latin typeface="Arial" pitchFamily="34" charset="0"/>
                <a:cs typeface="Arial" pitchFamily="34" charset="-120"/>
              </a:rPr>
              <a:t>ADVISOR</a:t>
            </a:r>
          </a:p>
        </p:txBody>
      </p:sp>
      <p:sp>
        <p:nvSpPr>
          <p:cNvPr id="24" name="Text 19"/>
          <p:cNvSpPr/>
          <p:nvPr/>
        </p:nvSpPr>
        <p:spPr>
          <a:xfrm>
            <a:off x="9597736" y="4800600"/>
            <a:ext cx="17579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444444"/>
                </a:solidFill>
                <a:latin typeface="Arial" pitchFamily="34" charset="0"/>
                <a:cs typeface="Arial" pitchFamily="34" charset="-120"/>
              </a:rPr>
              <a:t>Former President of musical.ly (later TikTok).</a:t>
            </a:r>
          </a:p>
        </p:txBody>
      </p:sp>
      <p:sp>
        <p:nvSpPr>
          <p:cNvPr id="25" name="Text 20"/>
          <p:cNvSpPr/>
          <p:nvPr/>
        </p:nvSpPr>
        <p:spPr>
          <a:xfrm>
            <a:off x="1143000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600" dirty="0"/>
          </a:p>
        </p:txBody>
      </p:sp>
      <p:sp>
        <p:nvSpPr>
          <p:cNvPr id="40" name="Shape Chris"/>
          <p:cNvSpPr/>
          <p:nvPr/>
        </p:nvSpPr>
        <p:spPr>
          <a:xfrm>
            <a:off x="7279752" y="2514600"/>
            <a:ext cx="1997984" cy="3703320"/>
          </a:xfrm>
          <a:prstGeom prst="roundRect">
            <a:avLst>
              <a:gd name="adj" fmla="val 2605"/>
            </a:avLst>
          </a:prstGeom>
          <a:solidFill>
            <a:srgbClr val="F4F4F4"/>
          </a:solidFill>
          <a:ln/>
        </p:spPr>
      </p:sp>
      <p:pic>
        <p:nvPicPr>
          <p:cNvPr id="41" name="Photo Chri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5824" y="2743200"/>
            <a:ext cx="1005840" cy="1005840"/>
          </a:xfrm>
          <a:prstGeom prst="ellipse">
            <a:avLst/>
          </a:prstGeom>
        </p:spPr>
      </p:pic>
      <p:sp>
        <p:nvSpPr>
          <p:cNvPr id="42" name="Name Chris"/>
          <p:cNvSpPr/>
          <p:nvPr/>
        </p:nvSpPr>
        <p:spPr>
          <a:xfrm>
            <a:off x="7279752" y="3886200"/>
            <a:ext cx="199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0E0E"/>
                </a:solidFill>
                <a:latin typeface="Arial" pitchFamily="34" charset="0"/>
                <a:cs typeface="Arial" pitchFamily="34" charset="-120"/>
              </a:rPr>
              <a:t>Chris Kirik</a:t>
            </a:r>
          </a:p>
        </p:txBody>
      </p:sp>
      <p:sp>
        <p:nvSpPr>
          <p:cNvPr id="43" name="Title Chris"/>
          <p:cNvSpPr/>
          <p:nvPr/>
        </p:nvSpPr>
        <p:spPr>
          <a:xfrm>
            <a:off x="7279752" y="4416552"/>
            <a:ext cx="199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kern="0" spc="100" dirty="0">
                <a:solidFill>
                  <a:srgbClr val="EE6B1F"/>
                </a:solidFill>
                <a:latin typeface="Arial" pitchFamily="34" charset="0"/>
                <a:cs typeface="Arial" pitchFamily="34" charset="-120"/>
              </a:rPr>
              <a:t>CREATIVE DIR &amp; </a:t>
            </a:r>
          </a:p>
          <a:p>
            <a:pPr algn="ctr"/>
            <a:r>
              <a:rPr lang="en-US" sz="1200" b="1" kern="0" spc="100" dirty="0">
                <a:solidFill>
                  <a:srgbClr val="EE6B1F"/>
                </a:solidFill>
                <a:latin typeface="Arial" pitchFamily="34" charset="0"/>
                <a:cs typeface="Arial" pitchFamily="34" charset="-120"/>
              </a:rPr>
              <a:t>CO-FOUNDER</a:t>
            </a:r>
          </a:p>
        </p:txBody>
      </p:sp>
      <p:sp>
        <p:nvSpPr>
          <p:cNvPr id="44" name="Bio Chris"/>
          <p:cNvSpPr/>
          <p:nvPr/>
        </p:nvSpPr>
        <p:spPr>
          <a:xfrm>
            <a:off x="7399752" y="4800600"/>
            <a:ext cx="17579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444444"/>
                </a:solidFill>
                <a:latin typeface="Arial" pitchFamily="34" charset="0"/>
                <a:cs typeface="Arial" pitchFamily="34" charset="-120"/>
              </a:rPr>
              <a:t>Fashion and accessory designer. Founder fashion agency. Co-founder of The Fashion School.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300" normalizeH="0" baseline="0" noProof="0" dirty="0">
                <a:ln>
                  <a:noFill/>
                </a:ln>
                <a:solidFill>
                  <a:srgbClr val="EE6B1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INVESTMENT REQUEST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85800" y="2903220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1" i="0" u="none" strike="noStrike" kern="1200" cap="none" spc="0" normalizeH="0" baseline="0" noProof="0" dirty="0">
                <a:ln>
                  <a:noFill/>
                </a:ln>
                <a:solidFill>
                  <a:srgbClr val="9AA2E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Raising $500K pre-seed</a:t>
            </a:r>
            <a:endParaRPr kumimoji="0" lang="en-US" sz="4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143000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A9A9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sing"/>
          <p:cNvSpPr/>
          <p:nvPr/>
        </p:nvSpPr>
        <p:spPr>
          <a:xfrm>
            <a:off x="685800" y="2895600"/>
            <a:ext cx="10820400" cy="1066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5400" b="1" dirty="0">
                <a:solidFill>
                  <a:srgbClr val="EE6B1F"/>
                </a:solidFill>
                <a:latin typeface="Arial" pitchFamily="34" charset="0"/>
                <a:cs typeface="Arial" pitchFamily="34" charset="0"/>
              </a:rPr>
              <a:t>That’s about it. Thanks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626</TotalTime>
  <Words>1108</Words>
  <Application>Microsoft Macintosh PowerPoint</Application>
  <PresentationFormat>Widescreen</PresentationFormat>
  <Paragraphs>249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Terra Ferra — Investor Deck</dc:title>
  <dc:subject>PptxGenJS Presentation</dc:subject>
  <dc:creator>Terra Ferra</dc:creator>
  <cp:lastModifiedBy>Sophia Bressers</cp:lastModifiedBy>
  <cp:revision>23</cp:revision>
  <dcterms:created xsi:type="dcterms:W3CDTF">2026-06-24T13:48:05Z</dcterms:created>
  <dcterms:modified xsi:type="dcterms:W3CDTF">2026-06-26T18:42:01Z</dcterms:modified>
</cp:coreProperties>
</file>