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instagram.com/smthg.us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smthg.us/for-designer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thg_sign.png"/>
          <p:cNvPicPr>
            <a:picLocks noChangeAspect="1"/>
          </p:cNvPicPr>
          <p:nvPr/>
        </p:nvPicPr>
        <p:blipFill>
          <a:blip r:embed="rId2"/>
          <a:srcRect t="492" b="492"/>
          <a:stretch>
            <a:fillRect/>
          </a:stretch>
        </p:blipFill>
        <p:spPr>
          <a:xfrm>
            <a:off x="6641287" y="0"/>
            <a:ext cx="555040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5269687" cy="9601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5400" b="1" spc="-40">
                <a:solidFill>
                  <a:srgbClr val="161616"/>
                </a:solidFill>
                <a:latin typeface="Helvetica Neue"/>
              </a:rPr>
              <a:t>smthg</a:t>
            </a:r>
            <a:r>
              <a:rPr sz="5400" b="1" spc="-40">
                <a:solidFill>
                  <a:srgbClr val="E8002D"/>
                </a:solidFill>
                <a:latin typeface="Helvetica Neu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5269687" cy="3383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Find the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people who’ll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love what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you make.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0"/>
            <a:ext cx="5269687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A community built around your label.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2447" y="62179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E8002D"/>
                </a:solidFill>
                <a:latin typeface="Helvetica Neue"/>
                <a:hlinkClick r:id="rId3"/>
              </a:rPr>
              <a:t>@smthg.us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thg_flask.png"/>
          <p:cNvPicPr>
            <a:picLocks noChangeAspect="1"/>
          </p:cNvPicPr>
          <p:nvPr/>
        </p:nvPicPr>
        <p:blipFill>
          <a:blip r:embed="rId2"/>
          <a:srcRect l="3868" r="3868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84048"/>
            <a:ext cx="1828800" cy="2489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 spc="-40">
                <a:solidFill>
                  <a:srgbClr val="161616"/>
                </a:solidFill>
                <a:latin typeface="Helvetica Neue"/>
              </a:rPr>
              <a:t>smthg</a:t>
            </a:r>
            <a:r>
              <a:rPr sz="1400" b="1" spc="-40">
                <a:solidFill>
                  <a:srgbClr val="E8002D"/>
                </a:solidFill>
                <a:latin typeface="Helvetica Neu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0455" y="38404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1" spc="160">
                <a:solidFill>
                  <a:srgbClr val="161616"/>
                </a:solidFill>
                <a:latin typeface="Helvetica Neue"/>
              </a:rPr>
              <a:t>01 / THE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5699455" cy="1691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It’s about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being found.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5699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161616"/>
                </a:solidFill>
                <a:latin typeface="Helvetica Neue"/>
              </a:rPr>
              <a:t>Your audience is bigger than your followers.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429000"/>
            <a:ext cx="5699455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538728"/>
            <a:ext cx="569945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320 of 10,000 followers see a brand’s 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67912"/>
            <a:ext cx="569945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Even fewer make it to the product. Fashion stores turn 1.9% of visitors into buyers.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416552"/>
            <a:ext cx="5699455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526280"/>
            <a:ext cx="569945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Discovery stops at your followers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55464"/>
            <a:ext cx="569945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Most people find fashion through the same feeds and circles. On smthg, shoppers of brands like yours discover you too.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404104"/>
            <a:ext cx="5699455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513832"/>
            <a:ext cx="569945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Creators need 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43016"/>
            <a:ext cx="569945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Samples slow campaigns down and add cost and waste. With virtual try-on, creators and your ambassadors show your pieces without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YA9hXRUeOYBlkPjLKEdr6mM4RiU.jpg"/>
          <p:cNvPicPr>
            <a:picLocks noChangeAspect="1"/>
          </p:cNvPicPr>
          <p:nvPr/>
        </p:nvPicPr>
        <p:blipFill>
          <a:blip r:embed="rId2"/>
          <a:srcRect l="1333" r="1333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06440" y="384048"/>
            <a:ext cx="1828800" cy="2489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 spc="-40">
                <a:solidFill>
                  <a:srgbClr val="161616"/>
                </a:solidFill>
                <a:latin typeface="Helvetica Neue"/>
              </a:rPr>
              <a:t>smthg</a:t>
            </a:r>
            <a:r>
              <a:rPr sz="1400" b="1" spc="-40">
                <a:solidFill>
                  <a:srgbClr val="E8002D"/>
                </a:solidFill>
                <a:latin typeface="Helvetica Neu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095" y="38404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1" spc="160">
                <a:solidFill>
                  <a:srgbClr val="161616"/>
                </a:solidFill>
                <a:latin typeface="Helvetica Neue"/>
              </a:rPr>
              <a:t>02 / WHAT SMTHG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6440" y="914400"/>
            <a:ext cx="5699455" cy="1691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Unique fashion,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found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2697480"/>
            <a:ext cx="5699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161616"/>
                </a:solidFill>
                <a:latin typeface="Helvetica Neue"/>
              </a:rPr>
              <a:t>Community-led social commerce for fashion.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3383280"/>
            <a:ext cx="5699455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160020" indent="-160020">
              <a:lnSpc>
                <a:spcPct val="130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1400" b="0">
                <a:solidFill>
                  <a:srgbClr val="161616"/>
                </a:solidFill>
                <a:latin typeface="Helvetica Neue"/>
              </a:rPr>
              <a:t>Emerging brands, found through people you trust.</a:t>
            </a:r>
          </a:p>
          <a:p>
            <a:pPr marL="160020" indent="-160020">
              <a:lnSpc>
                <a:spcPct val="130000"/>
              </a:lnSpc>
              <a:spcAft>
                <a:spcPts val="1000"/>
              </a:spcAft>
              <a:buClr>
                <a:srgbClr val="E8002D"/>
              </a:buClr>
              <a:buFont typeface="Arial"/>
              <a:buChar char="—"/>
            </a:pPr>
            <a:r>
              <a:rPr sz="1400" b="0">
                <a:solidFill>
                  <a:srgbClr val="161616"/>
                </a:solidFill>
                <a:latin typeface="Helvetica Neue"/>
              </a:rPr>
              <a:t>Limited drops. Collections available for a limited time.</a:t>
            </a:r>
          </a:p>
          <a:p>
            <a:pPr marL="160020" indent="-160020">
              <a:lnSpc>
                <a:spcPct val="130000"/>
              </a:lnSpc>
              <a:spcAft>
                <a:spcPts val="1200"/>
              </a:spcAft>
              <a:buClr>
                <a:srgbClr val="E8002D"/>
              </a:buClr>
              <a:buFont typeface="Arial"/>
              <a:buChar char="—"/>
            </a:pPr>
            <a:r>
              <a:rPr sz="1400" b="0">
                <a:solidFill>
                  <a:srgbClr val="161616"/>
                </a:solidFill>
                <a:latin typeface="Helvetica Neue"/>
              </a:rPr>
              <a:t>Spaces and events keep members here between drops.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5257800"/>
            <a:ext cx="5699455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5413248"/>
            <a:ext cx="569945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Fashion moves through people.</a:t>
            </a:r>
          </a:p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E8002D"/>
                </a:solidFill>
                <a:latin typeface="Helvetica Neue"/>
              </a:rPr>
              <a:t>“Where did you get that?”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828800" cy="2489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 spc="-40">
                <a:solidFill>
                  <a:srgbClr val="161616"/>
                </a:solidFill>
                <a:latin typeface="Helvetica Neue"/>
              </a:rPr>
              <a:t>smthg</a:t>
            </a:r>
            <a:r>
              <a:rPr sz="1400" b="1" spc="-40">
                <a:solidFill>
                  <a:srgbClr val="E8002D"/>
                </a:solidFill>
                <a:latin typeface="Helvetica Neue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1095" y="38404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1" spc="160">
                <a:solidFill>
                  <a:srgbClr val="161616"/>
                </a:solidFill>
                <a:latin typeface="Helvetica Neue"/>
              </a:rPr>
              <a:t>03 / DISCOVERY, REWIRED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820095" cy="1691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We find the audience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for your drop.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161616"/>
                </a:solidFill>
                <a:latin typeface="Helvetica Neue"/>
              </a:rPr>
              <a:t>You don’t have to build another audience. Meet the one that already exists.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520440"/>
            <a:ext cx="3332378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3332378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5400" b="1" spc="-160">
                <a:solidFill>
                  <a:srgbClr val="E8002D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7200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We find your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10912"/>
            <a:ext cx="333237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Creators whose followers already collect labels like yours.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9658" y="3520440"/>
            <a:ext cx="3332378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9658" y="3611880"/>
            <a:ext cx="3332378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5400" b="1" spc="-160">
                <a:solidFill>
                  <a:srgbClr val="E8002D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457200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Your Brand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5010912"/>
            <a:ext cx="333237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Grows your ambassadors. They wait for the next drop, or buy from your regular assortment.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3516" y="3520440"/>
            <a:ext cx="3332378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3516" y="3611880"/>
            <a:ext cx="3332378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5400" b="1" spc="-160">
                <a:solidFill>
                  <a:srgbClr val="E8002D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3516" y="457200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Try-on instead of samples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3516" y="5010912"/>
            <a:ext cx="333237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Your pieces seen on a real body before ordering.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thg_reddress.png"/>
          <p:cNvPicPr>
            <a:picLocks noChangeAspect="1"/>
          </p:cNvPicPr>
          <p:nvPr/>
        </p:nvPicPr>
        <p:blipFill>
          <a:blip r:embed="rId2"/>
          <a:srcRect l="8857" r="8857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84048"/>
            <a:ext cx="1828800" cy="2489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 spc="-40">
                <a:solidFill>
                  <a:srgbClr val="161616"/>
                </a:solidFill>
                <a:latin typeface="Helvetica Neue"/>
              </a:rPr>
              <a:t>smthg</a:t>
            </a:r>
            <a:r>
              <a:rPr sz="1400" b="1" spc="-40">
                <a:solidFill>
                  <a:srgbClr val="E8002D"/>
                </a:solidFill>
                <a:latin typeface="Helvetica Neu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9095" y="38404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1" spc="160">
                <a:solidFill>
                  <a:srgbClr val="161616"/>
                </a:solidFill>
                <a:latin typeface="Helvetica Neue"/>
              </a:rPr>
              <a:t>04 / YOUR BRAND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6248095" cy="2514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Not another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product page.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Your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6248095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spc="-20">
                <a:solidFill>
                  <a:srgbClr val="161616"/>
                </a:solidFill>
                <a:latin typeface="Helvetica Neue"/>
              </a:rPr>
              <a:t>Where people discover your label, follow your drops and come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251960"/>
            <a:ext cx="6248095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361688"/>
            <a:ext cx="624809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Brand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90872"/>
            <a:ext cx="6248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Live sessions, and every drop at its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910328"/>
            <a:ext cx="6248095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020056"/>
            <a:ext cx="624809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Style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49240"/>
            <a:ext cx="6248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Members share looks and find their people.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568696"/>
            <a:ext cx="6248095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78424"/>
            <a:ext cx="624809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007608"/>
            <a:ext cx="6248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The drop calendar keeps the community in sync.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291072"/>
            <a:ext cx="6248095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382512"/>
            <a:ext cx="624809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Space to grow your ambassadors — included.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txKDJUxoqy7xXGyCxHZssfywQ.jpg"/>
          <p:cNvPicPr>
            <a:picLocks noChangeAspect="1"/>
          </p:cNvPicPr>
          <p:nvPr/>
        </p:nvPicPr>
        <p:blipFill>
          <a:blip r:embed="rId2"/>
          <a:srcRect l="1333" r="1333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84048"/>
            <a:ext cx="1828800" cy="2489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 spc="-40">
                <a:solidFill>
                  <a:srgbClr val="161616"/>
                </a:solidFill>
                <a:latin typeface="Helvetica Neue"/>
              </a:rPr>
              <a:t>smthg</a:t>
            </a:r>
            <a:r>
              <a:rPr sz="1400" b="1" spc="-40">
                <a:solidFill>
                  <a:srgbClr val="E8002D"/>
                </a:solidFill>
                <a:latin typeface="Helvetica Neu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0455" y="38404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1" spc="160">
                <a:solidFill>
                  <a:srgbClr val="161616"/>
                </a:solidFill>
                <a:latin typeface="Helvetica Neue"/>
              </a:rPr>
              <a:t>05 / CREATOR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5699455" cy="2514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We find the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creator who fits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your brand.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5699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161616"/>
                </a:solidFill>
                <a:latin typeface="Helvetica Neue"/>
              </a:rPr>
              <a:t>Selection, brief and campaign, run by smthg.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206240"/>
            <a:ext cx="5699455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315968"/>
            <a:ext cx="569945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Creators whose audience already follows labels like yours.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56048"/>
            <a:ext cx="5699455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065776"/>
            <a:ext cx="569945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They present your pieces through virtual try-on.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705855"/>
            <a:ext cx="5699455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815583"/>
            <a:ext cx="5699455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No samples to ship.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828800" cy="2489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 spc="-40">
                <a:solidFill>
                  <a:srgbClr val="161616"/>
                </a:solidFill>
                <a:latin typeface="Helvetica Neue"/>
              </a:rPr>
              <a:t>smthg</a:t>
            </a:r>
            <a:r>
              <a:rPr sz="1400" b="1" spc="-40">
                <a:solidFill>
                  <a:srgbClr val="E8002D"/>
                </a:solidFill>
                <a:latin typeface="Helvetica Neue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91095" y="38404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1" spc="160">
                <a:solidFill>
                  <a:srgbClr val="161616"/>
                </a:solidFill>
                <a:latin typeface="Helvetica Neue"/>
              </a:rPr>
              <a:t>06 /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820095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Each drop grows the next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spc="-20">
                <a:solidFill>
                  <a:srgbClr val="161616"/>
                </a:solidFill>
                <a:latin typeface="Helvetica Neue"/>
              </a:rPr>
              <a:t>People who find you through a drop stay, and buy again.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468880"/>
            <a:ext cx="3149498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78608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Drop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Creators bring new audiences to your drop.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72458" y="2761488"/>
            <a:ext cx="411480" cy="0"/>
          </a:xfrm>
          <a:prstGeom prst="line">
            <a:avLst/>
          </a:prstGeom>
          <a:ln w="19050">
            <a:solidFill>
              <a:srgbClr val="E800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21098" y="2468880"/>
            <a:ext cx="3149498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1098" y="2578608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297180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Buyers and visitors stay in your Brand Space.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07756" y="2761488"/>
            <a:ext cx="411480" cy="0"/>
          </a:xfrm>
          <a:prstGeom prst="line">
            <a:avLst/>
          </a:prstGeom>
          <a:ln w="19050">
            <a:solidFill>
              <a:srgbClr val="E800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356396" y="2468880"/>
            <a:ext cx="3149498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578608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Assortment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97180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They keep buying your full assortment between drops.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31145" y="3611880"/>
            <a:ext cx="0" cy="246888"/>
          </a:xfrm>
          <a:prstGeom prst="line">
            <a:avLst/>
          </a:prstGeom>
          <a:ln w="19050">
            <a:solidFill>
              <a:srgbClr val="E800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60549" y="3858768"/>
            <a:ext cx="7670596" cy="0"/>
          </a:xfrm>
          <a:prstGeom prst="line">
            <a:avLst/>
          </a:prstGeom>
          <a:ln w="19050">
            <a:solidFill>
              <a:srgbClr val="E800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260549" y="3611880"/>
            <a:ext cx="0" cy="246888"/>
          </a:xfrm>
          <a:prstGeom prst="line">
            <a:avLst/>
          </a:prstGeom>
          <a:ln w="19050">
            <a:solidFill>
              <a:srgbClr val="E8002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395020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spc="200">
                <a:solidFill>
                  <a:srgbClr val="E8002D"/>
                </a:solidFill>
                <a:latin typeface="Helvetica Neue"/>
              </a:rPr>
              <a:t>AND THE NEXT DROP OPENS TO A BIGGER SPACE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526280"/>
            <a:ext cx="3149498" cy="1920240"/>
          </a:xfrm>
          <a:prstGeom prst="rect">
            <a:avLst/>
          </a:prstGeom>
          <a:noFill/>
          <a:ln w="12700">
            <a:solidFill>
              <a:srgbClr val="161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727448"/>
            <a:ext cx="263743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$250/mo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166360"/>
            <a:ext cx="2637434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Founding Brand rate. Standard rate $500/mo.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1098" y="4526280"/>
            <a:ext cx="3149498" cy="1920240"/>
          </a:xfrm>
          <a:prstGeom prst="rect">
            <a:avLst/>
          </a:prstGeom>
          <a:noFill/>
          <a:ln w="12700">
            <a:solidFill>
              <a:srgbClr val="161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7130" y="4727448"/>
            <a:ext cx="263743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30% on GMV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7130" y="5166360"/>
            <a:ext cx="2637434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All-in, on sold orders only. Most of it promotes your brand; a small part goes to the platform.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56396" y="4526280"/>
            <a:ext cx="3149498" cy="1920240"/>
          </a:xfrm>
          <a:prstGeom prst="rect">
            <a:avLst/>
          </a:prstGeom>
          <a:noFill/>
          <a:ln w="12700">
            <a:solidFill>
              <a:srgbClr val="161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2428" y="4727448"/>
            <a:ext cx="263743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Space included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2428" y="5166360"/>
            <a:ext cx="2637434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61616"/>
                </a:solidFill>
                <a:latin typeface="Helvetica Neue"/>
              </a:rPr>
              <a:t>Grow your ambassadors inside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thg_laundromat.png"/>
          <p:cNvPicPr>
            <a:picLocks noChangeAspect="1"/>
          </p:cNvPicPr>
          <p:nvPr/>
        </p:nvPicPr>
        <p:blipFill>
          <a:blip r:embed="rId2"/>
          <a:srcRect l="1241" r="1241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84048"/>
            <a:ext cx="1828800" cy="2489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1" spc="-40">
                <a:solidFill>
                  <a:srgbClr val="161616"/>
                </a:solidFill>
                <a:latin typeface="Helvetica Neue"/>
              </a:rPr>
              <a:t>smthg</a:t>
            </a:r>
            <a:r>
              <a:rPr sz="1400" b="1" spc="-40">
                <a:solidFill>
                  <a:srgbClr val="E8002D"/>
                </a:solidFill>
                <a:latin typeface="Helvetica Neu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0455" y="38404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1" spc="160">
                <a:solidFill>
                  <a:srgbClr val="161616"/>
                </a:solidFill>
                <a:latin typeface="Helvetica Neue"/>
              </a:rPr>
              <a:t>FOUNDING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5699455" cy="2514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Your world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deserves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 spc="-160">
                <a:solidFill>
                  <a:srgbClr val="161616"/>
                </a:solidFill>
                <a:latin typeface="Helvetica Neue"/>
              </a:rPr>
              <a:t>its people.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5699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spc="-20">
                <a:solidFill>
                  <a:srgbClr val="161616"/>
                </a:solidFill>
                <a:latin typeface="Helvetica Neue"/>
              </a:rPr>
              <a:t>Become a Founding Brand.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60520"/>
            <a:ext cx="56994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u="sng">
                <a:solidFill>
                  <a:srgbClr val="161616"/>
                </a:solidFill>
                <a:latin typeface="Helvetica Neue"/>
                <a:hlinkClick r:id="rId3"/>
              </a:rPr>
              <a:t>smthg.us/for-designers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715000"/>
            <a:ext cx="5699455" cy="12801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70448"/>
            <a:ext cx="5699455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1" spc="-40">
                <a:solidFill>
                  <a:srgbClr val="161616"/>
                </a:solidFill>
                <a:latin typeface="Helvetica Neue"/>
              </a:rPr>
              <a:t>smthg</a:t>
            </a:r>
            <a:r>
              <a:rPr sz="2000" b="1" spc="-40">
                <a:solidFill>
                  <a:srgbClr val="E8002D"/>
                </a:solidFill>
                <a:latin typeface="Helvetica Neue"/>
              </a:rPr>
              <a:t>.</a:t>
            </a:r>
            <a:r>
              <a:rPr sz="2000" b="1" spc="-40">
                <a:solidFill>
                  <a:srgbClr val="161616"/>
                </a:solidFill>
                <a:latin typeface="Helvetica Neue"/>
              </a:rPr>
              <a:t>  it’s so 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smthg.us — The Product v6 fashion magazine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