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74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A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603504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— Four Parallel Tracks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321040" y="457200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Executed in parallel — all converging on the first live, on-platform drop.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59003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3"/>
            </a:solidFill>
            <a:prstDash val="solid"/>
          </a:ln>
          <a:effectLst>
            <a:outerShdw blurRad="114300" dist="38100" dir="5400000" algn="bl" rotWithShape="0">
              <a:srgbClr val="8A8175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63040"/>
            <a:ext cx="2590038" cy="841248"/>
          </a:xfrm>
          <a:prstGeom prst="rect">
            <a:avLst/>
          </a:prstGeom>
          <a:solidFill>
            <a:srgbClr val="33373B"/>
          </a:solidFill>
          <a:ln/>
        </p:spPr>
      </p:sp>
      <p:sp>
        <p:nvSpPr>
          <p:cNvPr id="7" name="Shape 5"/>
          <p:cNvSpPr/>
          <p:nvPr/>
        </p:nvSpPr>
        <p:spPr>
          <a:xfrm>
            <a:off x="1615059" y="1572768"/>
            <a:ext cx="365760" cy="365760"/>
          </a:xfrm>
          <a:prstGeom prst="ellipse">
            <a:avLst/>
          </a:prstGeom>
          <a:solidFill>
            <a:srgbClr val="AE4A2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071" y="1668780"/>
            <a:ext cx="173736" cy="1737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1920240"/>
            <a:ext cx="2590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INVESTOR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2139696"/>
            <a:ext cx="25900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FC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fundraise &amp; close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" y="2414016"/>
            <a:ext cx="22242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investor deck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financial model &amp; the ask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Warm-intro investor target list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raise → close pre-seed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67278" y="1463040"/>
            <a:ext cx="259003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3"/>
            </a:solidFill>
            <a:prstDash val="solid"/>
          </a:ln>
          <a:effectLst>
            <a:outerShdw blurRad="114300" dist="38100" dir="5400000" algn="bl" rotWithShape="0">
              <a:srgbClr val="8A8175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67278" y="1463040"/>
            <a:ext cx="2590038" cy="841248"/>
          </a:xfrm>
          <a:prstGeom prst="rect">
            <a:avLst/>
          </a:prstGeom>
          <a:solidFill>
            <a:srgbClr val="33373B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9417" y="1572768"/>
            <a:ext cx="365760" cy="365760"/>
          </a:xfrm>
          <a:prstGeom prst="ellipse">
            <a:avLst/>
          </a:prstGeom>
          <a:solidFill>
            <a:srgbClr val="AE4A2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429" y="1668780"/>
            <a:ext cx="173736" cy="1737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67278" y="1920240"/>
            <a:ext cx="2590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PRODUCT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367278" y="2139696"/>
            <a:ext cx="25900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FC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68446" y="2414016"/>
            <a:ext cx="22242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CEO start building the MVP together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Drop-based mobile web — live on-platform checkout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VTO (FASHN.AI) + affiliate-tracked influencer links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Match v1 — AI-assisted scoring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31636" y="1463040"/>
            <a:ext cx="259003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3"/>
            </a:solidFill>
            <a:prstDash val="solid"/>
          </a:ln>
          <a:effectLst>
            <a:outerShdw blurRad="114300" dist="38100" dir="5400000" algn="bl" rotWithShape="0">
              <a:srgbClr val="8A8175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31636" y="1463040"/>
            <a:ext cx="2590038" cy="841248"/>
          </a:xfrm>
          <a:prstGeom prst="rect">
            <a:avLst/>
          </a:prstGeom>
          <a:solidFill>
            <a:srgbClr val="33373B"/>
          </a:solidFill>
          <a:ln/>
        </p:spPr>
      </p:sp>
      <p:sp>
        <p:nvSpPr>
          <p:cNvPr id="21" name="Shape 17"/>
          <p:cNvSpPr/>
          <p:nvPr/>
        </p:nvSpPr>
        <p:spPr>
          <a:xfrm>
            <a:off x="7343775" y="1572768"/>
            <a:ext cx="365760" cy="365760"/>
          </a:xfrm>
          <a:prstGeom prst="ellipse">
            <a:avLst/>
          </a:prstGeom>
          <a:solidFill>
            <a:srgbClr val="AE4A2E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787" y="1668780"/>
            <a:ext cx="173736" cy="1737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31636" y="1920240"/>
            <a:ext cx="2590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SUPPLY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231636" y="2139696"/>
            <a:ext cx="25900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FC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+ influencers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32804" y="2414016"/>
            <a:ext cx="22242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5–10 founding designers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founding influencers — by hand + via Insense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designers &amp; influencers to the platform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first live drops — transactions on-platform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9095994" y="1463040"/>
            <a:ext cx="2590038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3"/>
            </a:solidFill>
            <a:prstDash val="solid"/>
          </a:ln>
          <a:effectLst>
            <a:outerShdw blurRad="114300" dist="38100" dir="5400000" algn="bl" rotWithShape="0">
              <a:srgbClr val="8A8175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95994" y="1463040"/>
            <a:ext cx="2590038" cy="841248"/>
          </a:xfrm>
          <a:prstGeom prst="rect">
            <a:avLst/>
          </a:prstGeom>
          <a:solidFill>
            <a:srgbClr val="33373B"/>
          </a:solidFill>
          <a:ln/>
        </p:spPr>
      </p:sp>
      <p:sp>
        <p:nvSpPr>
          <p:cNvPr id="28" name="Shape 23"/>
          <p:cNvSpPr/>
          <p:nvPr/>
        </p:nvSpPr>
        <p:spPr>
          <a:xfrm>
            <a:off x="10208133" y="1572768"/>
            <a:ext cx="365760" cy="365760"/>
          </a:xfrm>
          <a:prstGeom prst="ellipse">
            <a:avLst/>
          </a:prstGeom>
          <a:solidFill>
            <a:srgbClr val="AE4A2E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4145" y="1668780"/>
            <a:ext cx="173736" cy="17373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095994" y="1920240"/>
            <a:ext cx="2590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LEGAL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095994" y="2139696"/>
            <a:ext cx="25900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FC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contracts, data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9297162" y="2414016"/>
            <a:ext cx="2224278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+ cap table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ToS + creator/designer agreements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Rev-share &amp; affiliate payout terms</a:t>
            </a:r>
            <a:endParaRPr lang="en-US" sz="1400" dirty="0"/>
          </a:p>
          <a:p>
            <a:pPr marL="203200" indent="-203200" algn="l">
              <a:lnSpc>
                <a:spcPct val="100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GDPR compliance + vendor DPAs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502920" y="5797296"/>
            <a:ext cx="11183112" cy="548640"/>
          </a:xfrm>
          <a:prstGeom prst="rect">
            <a:avLst/>
          </a:prstGeom>
          <a:solidFill>
            <a:srgbClr val="F4EFE9"/>
          </a:solidFill>
          <a:ln w="12700">
            <a:solidFill>
              <a:srgbClr val="E4DDD3"/>
            </a:solidFill>
            <a:prstDash val="solid"/>
          </a:ln>
          <a:effectLst>
            <a:outerShdw blurRad="88900" dist="25400" dir="5400000" algn="bl" rotWithShape="0">
              <a:srgbClr val="8A8175">
                <a:alpha val="16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749808" y="579729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A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tracks converge on one milestone — the first live drop on-platform, generating real transactions to anchor the raise.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9646920" y="5925312"/>
            <a:ext cx="0" cy="292608"/>
          </a:xfrm>
          <a:prstGeom prst="line">
            <a:avLst/>
          </a:prstGeom>
          <a:noFill/>
          <a:ln w="12700">
            <a:solidFill>
              <a:srgbClr val="E4DDD3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875520" y="5870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E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 DAYS</a:t>
            </a:r>
            <a:endParaRPr lang="en-US" sz="2100" dirty="0"/>
          </a:p>
        </p:txBody>
      </p:sp>
      <p:sp>
        <p:nvSpPr>
          <p:cNvPr id="37" name="Text 31"/>
          <p:cNvSpPr/>
          <p:nvPr/>
        </p:nvSpPr>
        <p:spPr>
          <a:xfrm>
            <a:off x="9875520" y="61264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" dirty="0">
                <a:solidFill>
                  <a:srgbClr val="5C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DROP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</Words>
  <Application>Microsoft Macintosh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Steps</dc:title>
  <dc:subject>PptxGenJS Presentation</dc:subject>
  <dc:creator>Terra Ferra</dc:creator>
  <cp:lastModifiedBy>Sophia Bressers</cp:lastModifiedBy>
  <cp:revision>1</cp:revision>
  <dcterms:created xsi:type="dcterms:W3CDTF">2026-06-21T16:33:18Z</dcterms:created>
  <dcterms:modified xsi:type="dcterms:W3CDTF">2026-06-21T16:44:38Z</dcterms:modified>
</cp:coreProperties>
</file>